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New Sun Playful" charset="1" panose="00000000000000000000"/>
      <p:regular r:id="rId15"/>
    </p:embeddedFont>
    <p:embeddedFont>
      <p:font typeface="Greycliff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3.pn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2.pn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jpeg" Type="http://schemas.openxmlformats.org/officeDocument/2006/relationships/image"/><Relationship Id="rId11" Target="../media/image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2.png" Type="http://schemas.openxmlformats.org/officeDocument/2006/relationships/image"/><Relationship Id="rId9"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6.png" Type="http://schemas.openxmlformats.org/officeDocument/2006/relationships/image"/><Relationship Id="rId9"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DDB8"/>
        </a:solidFill>
      </p:bgPr>
    </p:bg>
    <p:spTree>
      <p:nvGrpSpPr>
        <p:cNvPr id="1" name=""/>
        <p:cNvGrpSpPr/>
        <p:nvPr/>
      </p:nvGrpSpPr>
      <p:grpSpPr>
        <a:xfrm>
          <a:off x="0" y="0"/>
          <a:ext cx="0" cy="0"/>
          <a:chOff x="0" y="0"/>
          <a:chExt cx="0" cy="0"/>
        </a:xfrm>
      </p:grpSpPr>
      <p:sp>
        <p:nvSpPr>
          <p:cNvPr name="Freeform 2" id="2"/>
          <p:cNvSpPr/>
          <p:nvPr/>
        </p:nvSpPr>
        <p:spPr>
          <a:xfrm flipH="false" flipV="false" rot="0">
            <a:off x="-1786999" y="-3655460"/>
            <a:ext cx="20074999" cy="29199998"/>
          </a:xfrm>
          <a:custGeom>
            <a:avLst/>
            <a:gdLst/>
            <a:ahLst/>
            <a:cxnLst/>
            <a:rect r="r" b="b" t="t" l="l"/>
            <a:pathLst>
              <a:path h="29199998" w="20074999">
                <a:moveTo>
                  <a:pt x="0" y="0"/>
                </a:moveTo>
                <a:lnTo>
                  <a:pt x="20074999" y="0"/>
                </a:lnTo>
                <a:lnTo>
                  <a:pt x="20074999" y="29199998"/>
                </a:lnTo>
                <a:lnTo>
                  <a:pt x="0" y="29199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37374">
            <a:off x="4055518" y="1441351"/>
            <a:ext cx="2570596" cy="944694"/>
          </a:xfrm>
          <a:custGeom>
            <a:avLst/>
            <a:gdLst/>
            <a:ahLst/>
            <a:cxnLst/>
            <a:rect r="r" b="b" t="t" l="l"/>
            <a:pathLst>
              <a:path h="944694" w="2570596">
                <a:moveTo>
                  <a:pt x="0" y="0"/>
                </a:moveTo>
                <a:lnTo>
                  <a:pt x="2570595" y="0"/>
                </a:lnTo>
                <a:lnTo>
                  <a:pt x="2570595" y="944694"/>
                </a:lnTo>
                <a:lnTo>
                  <a:pt x="0" y="944694"/>
                </a:lnTo>
                <a:lnTo>
                  <a:pt x="0" y="0"/>
                </a:lnTo>
                <a:close/>
              </a:path>
            </a:pathLst>
          </a:custGeom>
          <a:blipFill>
            <a:blip r:embed="rId4"/>
            <a:stretch>
              <a:fillRect l="0" t="0" r="0" b="0"/>
            </a:stretch>
          </a:blipFill>
        </p:spPr>
      </p:sp>
      <p:sp>
        <p:nvSpPr>
          <p:cNvPr name="Freeform 4" id="4"/>
          <p:cNvSpPr/>
          <p:nvPr/>
        </p:nvSpPr>
        <p:spPr>
          <a:xfrm flipH="false" flipV="false" rot="627166">
            <a:off x="-1237591" y="1686353"/>
            <a:ext cx="20461746" cy="20461746"/>
          </a:xfrm>
          <a:custGeom>
            <a:avLst/>
            <a:gdLst/>
            <a:ahLst/>
            <a:cxnLst/>
            <a:rect r="r" b="b" t="t" l="l"/>
            <a:pathLst>
              <a:path h="20461746" w="20461746">
                <a:moveTo>
                  <a:pt x="0" y="0"/>
                </a:moveTo>
                <a:lnTo>
                  <a:pt x="20461746" y="0"/>
                </a:lnTo>
                <a:lnTo>
                  <a:pt x="20461746" y="20461746"/>
                </a:lnTo>
                <a:lnTo>
                  <a:pt x="0" y="20461746"/>
                </a:lnTo>
                <a:lnTo>
                  <a:pt x="0" y="0"/>
                </a:lnTo>
                <a:close/>
              </a:path>
            </a:pathLst>
          </a:custGeom>
          <a:blipFill>
            <a:blip r:embed="rId5"/>
            <a:stretch>
              <a:fillRect l="0" t="0" r="0" b="0"/>
            </a:stretch>
          </a:blipFill>
        </p:spPr>
      </p:sp>
      <p:sp>
        <p:nvSpPr>
          <p:cNvPr name="Freeform 5" id="5"/>
          <p:cNvSpPr/>
          <p:nvPr/>
        </p:nvSpPr>
        <p:spPr>
          <a:xfrm flipH="false" flipV="false" rot="715928">
            <a:off x="14965719" y="-4074683"/>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6"/>
            <a:stretch>
              <a:fillRect l="0" t="0" r="0" b="0"/>
            </a:stretch>
          </a:blipFill>
        </p:spPr>
      </p:sp>
      <p:sp>
        <p:nvSpPr>
          <p:cNvPr name="Freeform 6" id="6"/>
          <p:cNvSpPr/>
          <p:nvPr/>
        </p:nvSpPr>
        <p:spPr>
          <a:xfrm flipH="false" flipV="false" rot="712234">
            <a:off x="14849882" y="3821127"/>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40385">
            <a:off x="14956528" y="5960563"/>
            <a:ext cx="1636393" cy="1343888"/>
          </a:xfrm>
          <a:custGeom>
            <a:avLst/>
            <a:gdLst/>
            <a:ahLst/>
            <a:cxnLst/>
            <a:rect r="r" b="b" t="t" l="l"/>
            <a:pathLst>
              <a:path h="1343888" w="1636393">
                <a:moveTo>
                  <a:pt x="0" y="0"/>
                </a:moveTo>
                <a:lnTo>
                  <a:pt x="1636393" y="0"/>
                </a:lnTo>
                <a:lnTo>
                  <a:pt x="1636393" y="1343888"/>
                </a:lnTo>
                <a:lnTo>
                  <a:pt x="0" y="13438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15503373" y="8143221"/>
            <a:ext cx="94599" cy="9459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1715"/>
            </a:solidFill>
          </p:spPr>
        </p:sp>
        <p:sp>
          <p:nvSpPr>
            <p:cNvPr name="TextBox 10" id="10"/>
            <p:cNvSpPr txBox="true"/>
            <p:nvPr/>
          </p:nvSpPr>
          <p:spPr>
            <a:xfrm>
              <a:off x="76200" y="85725"/>
              <a:ext cx="660400" cy="650875"/>
            </a:xfrm>
            <a:prstGeom prst="rect">
              <a:avLst/>
            </a:prstGeom>
          </p:spPr>
          <p:txBody>
            <a:bodyPr anchor="ctr" rtlCol="false" tIns="48876" lIns="48876" bIns="48876" rIns="48876"/>
            <a:lstStyle/>
            <a:p>
              <a:pPr algn="ctr">
                <a:lnSpc>
                  <a:spcPts val="1270"/>
                </a:lnSpc>
              </a:pPr>
            </a:p>
          </p:txBody>
        </p:sp>
      </p:grpSp>
      <p:sp>
        <p:nvSpPr>
          <p:cNvPr name="TextBox 11" id="11"/>
          <p:cNvSpPr txBox="true"/>
          <p:nvPr/>
        </p:nvSpPr>
        <p:spPr>
          <a:xfrm rot="606274">
            <a:off x="15676554" y="7857814"/>
            <a:ext cx="1154650" cy="997874"/>
          </a:xfrm>
          <a:prstGeom prst="rect">
            <a:avLst/>
          </a:prstGeom>
        </p:spPr>
        <p:txBody>
          <a:bodyPr anchor="t" rtlCol="false" tIns="0" lIns="0" bIns="0" rIns="0">
            <a:spAutoFit/>
          </a:bodyPr>
          <a:lstStyle/>
          <a:p>
            <a:pPr algn="ctr">
              <a:lnSpc>
                <a:spcPts val="3723"/>
              </a:lnSpc>
            </a:pPr>
            <a:r>
              <a:rPr lang="en-US" sz="4329">
                <a:solidFill>
                  <a:srgbClr val="000000"/>
                </a:solidFill>
                <a:latin typeface="New Sun Playful"/>
                <a:ea typeface="New Sun Playful"/>
                <a:cs typeface="New Sun Playful"/>
                <a:sym typeface="New Sun Playful"/>
              </a:rPr>
              <a:t>20</a:t>
            </a:r>
          </a:p>
          <a:p>
            <a:pPr algn="ctr">
              <a:lnSpc>
                <a:spcPts val="3723"/>
              </a:lnSpc>
            </a:pPr>
            <a:r>
              <a:rPr lang="en-US" sz="4329">
                <a:solidFill>
                  <a:srgbClr val="000000"/>
                </a:solidFill>
                <a:latin typeface="New Sun Playful"/>
                <a:ea typeface="New Sun Playful"/>
                <a:cs typeface="New Sun Playful"/>
                <a:sym typeface="New Sun Playful"/>
              </a:rPr>
              <a:t>25</a:t>
            </a:r>
          </a:p>
        </p:txBody>
      </p:sp>
      <p:sp>
        <p:nvSpPr>
          <p:cNvPr name="TextBox 12" id="12"/>
          <p:cNvSpPr txBox="true"/>
          <p:nvPr/>
        </p:nvSpPr>
        <p:spPr>
          <a:xfrm rot="630000">
            <a:off x="15408659" y="8437138"/>
            <a:ext cx="1550231" cy="677404"/>
          </a:xfrm>
          <a:prstGeom prst="rect">
            <a:avLst/>
          </a:prstGeom>
        </p:spPr>
        <p:txBody>
          <a:bodyPr anchor="t" rtlCol="false" tIns="0" lIns="0" bIns="0" rIns="0">
            <a:spAutoFit/>
          </a:bodyPr>
          <a:lstStyle/>
          <a:p>
            <a:pPr algn="ctr">
              <a:lnSpc>
                <a:spcPts val="2346"/>
              </a:lnSpc>
            </a:pPr>
            <a:r>
              <a:rPr lang="en-US" b="true" sz="1675" spc="182">
                <a:solidFill>
                  <a:srgbClr val="000000"/>
                </a:solidFill>
                <a:latin typeface="Greycliff Bold"/>
                <a:ea typeface="Greycliff Bold"/>
                <a:cs typeface="Greycliff Bold"/>
                <a:sym typeface="Greycliff Bold"/>
              </a:rPr>
              <a:t>Group Project</a:t>
            </a:r>
          </a:p>
        </p:txBody>
      </p:sp>
      <p:grpSp>
        <p:nvGrpSpPr>
          <p:cNvPr name="Group 13" id="13"/>
          <p:cNvGrpSpPr/>
          <p:nvPr/>
        </p:nvGrpSpPr>
        <p:grpSpPr>
          <a:xfrm rot="0">
            <a:off x="16897591" y="8423458"/>
            <a:ext cx="94599" cy="9459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1715"/>
            </a:solidFill>
          </p:spPr>
        </p:sp>
        <p:sp>
          <p:nvSpPr>
            <p:cNvPr name="TextBox 15" id="15"/>
            <p:cNvSpPr txBox="true"/>
            <p:nvPr/>
          </p:nvSpPr>
          <p:spPr>
            <a:xfrm>
              <a:off x="76200" y="85725"/>
              <a:ext cx="660400" cy="650875"/>
            </a:xfrm>
            <a:prstGeom prst="rect">
              <a:avLst/>
            </a:prstGeom>
          </p:spPr>
          <p:txBody>
            <a:bodyPr anchor="ctr" rtlCol="false" tIns="48876" lIns="48876" bIns="48876" rIns="48876"/>
            <a:lstStyle/>
            <a:p>
              <a:pPr algn="ctr">
                <a:lnSpc>
                  <a:spcPts val="1270"/>
                </a:lnSpc>
              </a:pPr>
            </a:p>
          </p:txBody>
        </p:sp>
      </p:grpSp>
      <p:sp>
        <p:nvSpPr>
          <p:cNvPr name="TextBox 16" id="16"/>
          <p:cNvSpPr txBox="true"/>
          <p:nvPr/>
        </p:nvSpPr>
        <p:spPr>
          <a:xfrm rot="606274">
            <a:off x="3028369" y="5197752"/>
            <a:ext cx="12490327" cy="4518169"/>
          </a:xfrm>
          <a:prstGeom prst="rect">
            <a:avLst/>
          </a:prstGeom>
        </p:spPr>
        <p:txBody>
          <a:bodyPr anchor="t" rtlCol="false" tIns="0" lIns="0" bIns="0" rIns="0">
            <a:spAutoFit/>
          </a:bodyPr>
          <a:lstStyle/>
          <a:p>
            <a:pPr algn="ctr">
              <a:lnSpc>
                <a:spcPts val="18184"/>
              </a:lnSpc>
            </a:pPr>
            <a:r>
              <a:rPr lang="en-US" sz="12988">
                <a:solidFill>
                  <a:srgbClr val="000000"/>
                </a:solidFill>
                <a:latin typeface="New Sun Playful"/>
                <a:ea typeface="New Sun Playful"/>
                <a:cs typeface="New Sun Playful"/>
                <a:sym typeface="New Sun Playful"/>
              </a:rPr>
              <a:t>CSC-510 </a:t>
            </a:r>
            <a:r>
              <a:rPr lang="en-US" sz="12988">
                <a:solidFill>
                  <a:srgbClr val="000000"/>
                </a:solidFill>
                <a:latin typeface="New Sun Playful"/>
                <a:ea typeface="New Sun Playful"/>
                <a:cs typeface="New Sun Playful"/>
                <a:sym typeface="New Sun Playful"/>
              </a:rPr>
              <a:t>Group Project</a:t>
            </a:r>
          </a:p>
        </p:txBody>
      </p:sp>
      <p:sp>
        <p:nvSpPr>
          <p:cNvPr name="Freeform 17" id="17"/>
          <p:cNvSpPr/>
          <p:nvPr/>
        </p:nvSpPr>
        <p:spPr>
          <a:xfrm flipH="true" flipV="false" rot="0">
            <a:off x="-584734" y="6632507"/>
            <a:ext cx="5925550" cy="4747847"/>
          </a:xfrm>
          <a:custGeom>
            <a:avLst/>
            <a:gdLst/>
            <a:ahLst/>
            <a:cxnLst/>
            <a:rect r="r" b="b" t="t" l="l"/>
            <a:pathLst>
              <a:path h="4747847" w="5925550">
                <a:moveTo>
                  <a:pt x="5925549" y="0"/>
                </a:moveTo>
                <a:lnTo>
                  <a:pt x="0" y="0"/>
                </a:lnTo>
                <a:lnTo>
                  <a:pt x="0" y="4747847"/>
                </a:lnTo>
                <a:lnTo>
                  <a:pt x="5925549" y="4747847"/>
                </a:lnTo>
                <a:lnTo>
                  <a:pt x="5925549" y="0"/>
                </a:lnTo>
                <a:close/>
              </a:path>
            </a:pathLst>
          </a:custGeom>
          <a:blipFill>
            <a:blip r:embed="rId11"/>
            <a:stretch>
              <a:fillRect l="0" t="0" r="0" b="0"/>
            </a:stretch>
          </a:blipFill>
        </p:spPr>
      </p:sp>
      <p:sp>
        <p:nvSpPr>
          <p:cNvPr name="Freeform 18" id="18"/>
          <p:cNvSpPr/>
          <p:nvPr/>
        </p:nvSpPr>
        <p:spPr>
          <a:xfrm flipH="false" flipV="false" rot="437374">
            <a:off x="11686811" y="2063439"/>
            <a:ext cx="2570596" cy="944694"/>
          </a:xfrm>
          <a:custGeom>
            <a:avLst/>
            <a:gdLst/>
            <a:ahLst/>
            <a:cxnLst/>
            <a:rect r="r" b="b" t="t" l="l"/>
            <a:pathLst>
              <a:path h="944694" w="2570596">
                <a:moveTo>
                  <a:pt x="0" y="0"/>
                </a:moveTo>
                <a:lnTo>
                  <a:pt x="2570595" y="0"/>
                </a:lnTo>
                <a:lnTo>
                  <a:pt x="2570595" y="944694"/>
                </a:lnTo>
                <a:lnTo>
                  <a:pt x="0" y="944694"/>
                </a:lnTo>
                <a:lnTo>
                  <a:pt x="0" y="0"/>
                </a:lnTo>
                <a:close/>
              </a:path>
            </a:pathLst>
          </a:custGeom>
          <a:blipFill>
            <a:blip r:embed="rId4"/>
            <a:stretch>
              <a:fillRect l="0" t="0" r="0" b="0"/>
            </a:stretch>
          </a:blipFill>
        </p:spPr>
      </p:sp>
      <p:sp>
        <p:nvSpPr>
          <p:cNvPr name="TextBox 19" id="19"/>
          <p:cNvSpPr txBox="true"/>
          <p:nvPr/>
        </p:nvSpPr>
        <p:spPr>
          <a:xfrm rot="630000">
            <a:off x="15743833" y="7406076"/>
            <a:ext cx="1260314" cy="496722"/>
          </a:xfrm>
          <a:prstGeom prst="rect">
            <a:avLst/>
          </a:prstGeom>
        </p:spPr>
        <p:txBody>
          <a:bodyPr anchor="t" rtlCol="false" tIns="0" lIns="0" bIns="0" rIns="0">
            <a:spAutoFit/>
          </a:bodyPr>
          <a:lstStyle/>
          <a:p>
            <a:pPr algn="ctr">
              <a:lnSpc>
                <a:spcPts val="2346"/>
              </a:lnSpc>
            </a:pPr>
            <a:r>
              <a:rPr lang="en-US" b="true" sz="1675" spc="382">
                <a:solidFill>
                  <a:srgbClr val="000000"/>
                </a:solidFill>
                <a:latin typeface="Greycliff Bold"/>
                <a:ea typeface="Greycliff Bold"/>
                <a:cs typeface="Greycliff Bold"/>
                <a:sym typeface="Greycliff Bold"/>
              </a:rPr>
              <a:t>CSC 510</a:t>
            </a:r>
          </a:p>
          <a:p>
            <a:pPr algn="ctr">
              <a:lnSpc>
                <a:spcPts val="2346"/>
              </a:lnSpc>
            </a:pPr>
          </a:p>
        </p:txBody>
      </p:sp>
      <p:sp>
        <p:nvSpPr>
          <p:cNvPr name="TextBox 20" id="20"/>
          <p:cNvSpPr txBox="true"/>
          <p:nvPr/>
        </p:nvSpPr>
        <p:spPr>
          <a:xfrm rot="630000">
            <a:off x="5670716" y="3916203"/>
            <a:ext cx="7594212" cy="580390"/>
          </a:xfrm>
          <a:prstGeom prst="rect">
            <a:avLst/>
          </a:prstGeom>
        </p:spPr>
        <p:txBody>
          <a:bodyPr anchor="t" rtlCol="false" tIns="0" lIns="0" bIns="0" rIns="0">
            <a:spAutoFit/>
          </a:bodyPr>
          <a:lstStyle/>
          <a:p>
            <a:pPr algn="l">
              <a:lnSpc>
                <a:spcPts val="4760"/>
              </a:lnSpc>
            </a:pPr>
            <a:r>
              <a:rPr lang="en-US" sz="3400" b="true">
                <a:solidFill>
                  <a:srgbClr val="000000"/>
                </a:solidFill>
                <a:latin typeface="Greycliff Bold"/>
                <a:ea typeface="Greycliff Bold"/>
                <a:cs typeface="Greycliff Bold"/>
                <a:sym typeface="Greycliff Bold"/>
              </a:rPr>
              <a:t>Presented by The Powerpuff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68433" y="-6398036"/>
            <a:ext cx="21811985" cy="31726524"/>
          </a:xfrm>
          <a:custGeom>
            <a:avLst/>
            <a:gdLst/>
            <a:ahLst/>
            <a:cxnLst/>
            <a:rect r="r" b="b" t="t" l="l"/>
            <a:pathLst>
              <a:path h="31726524" w="21811985">
                <a:moveTo>
                  <a:pt x="0" y="0"/>
                </a:moveTo>
                <a:lnTo>
                  <a:pt x="21811985" y="0"/>
                </a:lnTo>
                <a:lnTo>
                  <a:pt x="21811985" y="31726524"/>
                </a:lnTo>
                <a:lnTo>
                  <a:pt x="0" y="317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10000">
            <a:off x="-3182043" y="-1783535"/>
            <a:ext cx="23766232" cy="26657467"/>
          </a:xfrm>
          <a:custGeom>
            <a:avLst/>
            <a:gdLst/>
            <a:ahLst/>
            <a:cxnLst/>
            <a:rect r="r" b="b" t="t" l="l"/>
            <a:pathLst>
              <a:path h="26657467" w="23766232">
                <a:moveTo>
                  <a:pt x="0" y="0"/>
                </a:moveTo>
                <a:lnTo>
                  <a:pt x="23766231" y="0"/>
                </a:lnTo>
                <a:lnTo>
                  <a:pt x="23766231" y="26657467"/>
                </a:lnTo>
                <a:lnTo>
                  <a:pt x="0" y="26657467"/>
                </a:lnTo>
                <a:lnTo>
                  <a:pt x="0" y="0"/>
                </a:lnTo>
                <a:close/>
              </a:path>
            </a:pathLst>
          </a:custGeom>
          <a:blipFill>
            <a:blip r:embed="rId4"/>
            <a:stretch>
              <a:fillRect l="0" t="0" r="0" b="0"/>
            </a:stretch>
          </a:blipFill>
        </p:spPr>
      </p:sp>
      <p:sp>
        <p:nvSpPr>
          <p:cNvPr name="Freeform 4" id="4"/>
          <p:cNvSpPr/>
          <p:nvPr/>
        </p:nvSpPr>
        <p:spPr>
          <a:xfrm flipH="false" flipV="false" rot="715928">
            <a:off x="16589144" y="802856"/>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5"/>
            <a:stretch>
              <a:fillRect l="0" t="0" r="0" b="0"/>
            </a:stretch>
          </a:blipFill>
        </p:spPr>
      </p:sp>
      <p:sp>
        <p:nvSpPr>
          <p:cNvPr name="Freeform 5" id="5"/>
          <p:cNvSpPr/>
          <p:nvPr/>
        </p:nvSpPr>
        <p:spPr>
          <a:xfrm flipH="false" flipV="false" rot="712234">
            <a:off x="16473307" y="8698666"/>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090933" y="1051693"/>
            <a:ext cx="12490327"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Group Members</a:t>
            </a:r>
          </a:p>
        </p:txBody>
      </p:sp>
      <p:sp>
        <p:nvSpPr>
          <p:cNvPr name="Freeform 7" id="7"/>
          <p:cNvSpPr/>
          <p:nvPr/>
        </p:nvSpPr>
        <p:spPr>
          <a:xfrm flipH="false" flipV="false" rot="0">
            <a:off x="3530844" y="4046635"/>
            <a:ext cx="4921310" cy="1808581"/>
          </a:xfrm>
          <a:custGeom>
            <a:avLst/>
            <a:gdLst/>
            <a:ahLst/>
            <a:cxnLst/>
            <a:rect r="r" b="b" t="t" l="l"/>
            <a:pathLst>
              <a:path h="1808581" w="4921310">
                <a:moveTo>
                  <a:pt x="0" y="0"/>
                </a:moveTo>
                <a:lnTo>
                  <a:pt x="4921310" y="0"/>
                </a:lnTo>
                <a:lnTo>
                  <a:pt x="4921310" y="1808581"/>
                </a:lnTo>
                <a:lnTo>
                  <a:pt x="0" y="1808581"/>
                </a:lnTo>
                <a:lnTo>
                  <a:pt x="0" y="0"/>
                </a:lnTo>
                <a:close/>
              </a:path>
            </a:pathLst>
          </a:custGeom>
          <a:blipFill>
            <a:blip r:embed="rId8"/>
            <a:stretch>
              <a:fillRect l="0" t="0" r="0" b="0"/>
            </a:stretch>
          </a:blipFill>
        </p:spPr>
      </p:sp>
      <p:sp>
        <p:nvSpPr>
          <p:cNvPr name="Freeform 8" id="8"/>
          <p:cNvSpPr/>
          <p:nvPr/>
        </p:nvSpPr>
        <p:spPr>
          <a:xfrm flipH="false" flipV="false" rot="0">
            <a:off x="10659950" y="4046635"/>
            <a:ext cx="4921310" cy="1808581"/>
          </a:xfrm>
          <a:custGeom>
            <a:avLst/>
            <a:gdLst/>
            <a:ahLst/>
            <a:cxnLst/>
            <a:rect r="r" b="b" t="t" l="l"/>
            <a:pathLst>
              <a:path h="1808581" w="4921310">
                <a:moveTo>
                  <a:pt x="0" y="0"/>
                </a:moveTo>
                <a:lnTo>
                  <a:pt x="4921310" y="0"/>
                </a:lnTo>
                <a:lnTo>
                  <a:pt x="4921310" y="1808581"/>
                </a:lnTo>
                <a:lnTo>
                  <a:pt x="0" y="1808581"/>
                </a:lnTo>
                <a:lnTo>
                  <a:pt x="0" y="0"/>
                </a:lnTo>
                <a:close/>
              </a:path>
            </a:pathLst>
          </a:custGeom>
          <a:blipFill>
            <a:blip r:embed="rId8"/>
            <a:stretch>
              <a:fillRect l="0" t="0" r="0" b="0"/>
            </a:stretch>
          </a:blipFill>
        </p:spPr>
      </p:sp>
      <p:sp>
        <p:nvSpPr>
          <p:cNvPr name="Freeform 9" id="9"/>
          <p:cNvSpPr/>
          <p:nvPr/>
        </p:nvSpPr>
        <p:spPr>
          <a:xfrm flipH="false" flipV="false" rot="0">
            <a:off x="6875442" y="6797126"/>
            <a:ext cx="4921310" cy="1808581"/>
          </a:xfrm>
          <a:custGeom>
            <a:avLst/>
            <a:gdLst/>
            <a:ahLst/>
            <a:cxnLst/>
            <a:rect r="r" b="b" t="t" l="l"/>
            <a:pathLst>
              <a:path h="1808581" w="4921310">
                <a:moveTo>
                  <a:pt x="0" y="0"/>
                </a:moveTo>
                <a:lnTo>
                  <a:pt x="4921310" y="0"/>
                </a:lnTo>
                <a:lnTo>
                  <a:pt x="4921310" y="1808582"/>
                </a:lnTo>
                <a:lnTo>
                  <a:pt x="0" y="1808582"/>
                </a:lnTo>
                <a:lnTo>
                  <a:pt x="0" y="0"/>
                </a:lnTo>
                <a:close/>
              </a:path>
            </a:pathLst>
          </a:custGeom>
          <a:blipFill>
            <a:blip r:embed="rId8"/>
            <a:stretch>
              <a:fillRect l="0" t="0" r="0" b="0"/>
            </a:stretch>
          </a:blipFill>
        </p:spPr>
      </p:sp>
      <p:sp>
        <p:nvSpPr>
          <p:cNvPr name="TextBox 10" id="10"/>
          <p:cNvSpPr txBox="true"/>
          <p:nvPr/>
        </p:nvSpPr>
        <p:spPr>
          <a:xfrm rot="0">
            <a:off x="3066438" y="4573100"/>
            <a:ext cx="5850122" cy="606425"/>
          </a:xfrm>
          <a:prstGeom prst="rect">
            <a:avLst/>
          </a:prstGeom>
        </p:spPr>
        <p:txBody>
          <a:bodyPr anchor="t" rtlCol="false" tIns="0" lIns="0" bIns="0" rIns="0">
            <a:spAutoFit/>
          </a:bodyPr>
          <a:lstStyle/>
          <a:p>
            <a:pPr algn="ctr">
              <a:lnSpc>
                <a:spcPts val="4900"/>
              </a:lnSpc>
            </a:pPr>
            <a:r>
              <a:rPr lang="en-US" sz="3500" b="true">
                <a:solidFill>
                  <a:srgbClr val="000000"/>
                </a:solidFill>
                <a:latin typeface="Greycliff Bold"/>
                <a:ea typeface="Greycliff Bold"/>
                <a:cs typeface="Greycliff Bold"/>
                <a:sym typeface="Greycliff Bold"/>
              </a:rPr>
              <a:t>Maleek Patterson</a:t>
            </a:r>
          </a:p>
        </p:txBody>
      </p:sp>
      <p:sp>
        <p:nvSpPr>
          <p:cNvPr name="TextBox 11" id="11"/>
          <p:cNvSpPr txBox="true"/>
          <p:nvPr/>
        </p:nvSpPr>
        <p:spPr>
          <a:xfrm rot="0">
            <a:off x="10195544" y="4573100"/>
            <a:ext cx="5850122" cy="606425"/>
          </a:xfrm>
          <a:prstGeom prst="rect">
            <a:avLst/>
          </a:prstGeom>
        </p:spPr>
        <p:txBody>
          <a:bodyPr anchor="t" rtlCol="false" tIns="0" lIns="0" bIns="0" rIns="0">
            <a:spAutoFit/>
          </a:bodyPr>
          <a:lstStyle/>
          <a:p>
            <a:pPr algn="ctr">
              <a:lnSpc>
                <a:spcPts val="4900"/>
              </a:lnSpc>
            </a:pPr>
            <a:r>
              <a:rPr lang="en-US" sz="3500" b="true">
                <a:solidFill>
                  <a:srgbClr val="000000"/>
                </a:solidFill>
                <a:latin typeface="Greycliff Bold"/>
                <a:ea typeface="Greycliff Bold"/>
                <a:cs typeface="Greycliff Bold"/>
                <a:sym typeface="Greycliff Bold"/>
              </a:rPr>
              <a:t>Chantiese Tyler</a:t>
            </a:r>
          </a:p>
        </p:txBody>
      </p:sp>
      <p:sp>
        <p:nvSpPr>
          <p:cNvPr name="TextBox 12" id="12"/>
          <p:cNvSpPr txBox="true"/>
          <p:nvPr/>
        </p:nvSpPr>
        <p:spPr>
          <a:xfrm rot="0">
            <a:off x="7879230" y="7360105"/>
            <a:ext cx="2913734" cy="606425"/>
          </a:xfrm>
          <a:prstGeom prst="rect">
            <a:avLst/>
          </a:prstGeom>
        </p:spPr>
        <p:txBody>
          <a:bodyPr anchor="t" rtlCol="false" tIns="0" lIns="0" bIns="0" rIns="0">
            <a:spAutoFit/>
          </a:bodyPr>
          <a:lstStyle/>
          <a:p>
            <a:pPr algn="ctr">
              <a:lnSpc>
                <a:spcPts val="4900"/>
              </a:lnSpc>
            </a:pPr>
            <a:r>
              <a:rPr lang="en-US" sz="3500" b="true">
                <a:solidFill>
                  <a:srgbClr val="000000"/>
                </a:solidFill>
                <a:latin typeface="Greycliff Bold"/>
                <a:ea typeface="Greycliff Bold"/>
                <a:cs typeface="Greycliff Bold"/>
                <a:sym typeface="Greycliff Bold"/>
              </a:rPr>
              <a:t>Zora Smith</a:t>
            </a:r>
          </a:p>
        </p:txBody>
      </p:sp>
      <p:sp>
        <p:nvSpPr>
          <p:cNvPr name="Freeform 13" id="13"/>
          <p:cNvSpPr/>
          <p:nvPr/>
        </p:nvSpPr>
        <p:spPr>
          <a:xfrm flipH="false" flipV="false" rot="0">
            <a:off x="371475" y="-383014"/>
            <a:ext cx="2694963" cy="2499578"/>
          </a:xfrm>
          <a:custGeom>
            <a:avLst/>
            <a:gdLst/>
            <a:ahLst/>
            <a:cxnLst/>
            <a:rect r="r" b="b" t="t" l="l"/>
            <a:pathLst>
              <a:path h="2499578" w="2694963">
                <a:moveTo>
                  <a:pt x="0" y="0"/>
                </a:moveTo>
                <a:lnTo>
                  <a:pt x="2694963" y="0"/>
                </a:lnTo>
                <a:lnTo>
                  <a:pt x="2694963" y="2499578"/>
                </a:lnTo>
                <a:lnTo>
                  <a:pt x="0" y="2499578"/>
                </a:lnTo>
                <a:lnTo>
                  <a:pt x="0" y="0"/>
                </a:lnTo>
                <a:close/>
              </a:path>
            </a:pathLst>
          </a:custGeom>
          <a:blipFill>
            <a:blip r:embed="rId9"/>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68433" y="-6398036"/>
            <a:ext cx="21811985" cy="31726524"/>
          </a:xfrm>
          <a:custGeom>
            <a:avLst/>
            <a:gdLst/>
            <a:ahLst/>
            <a:cxnLst/>
            <a:rect r="r" b="b" t="t" l="l"/>
            <a:pathLst>
              <a:path h="31726524" w="21811985">
                <a:moveTo>
                  <a:pt x="0" y="0"/>
                </a:moveTo>
                <a:lnTo>
                  <a:pt x="21811985" y="0"/>
                </a:lnTo>
                <a:lnTo>
                  <a:pt x="21811985" y="31726524"/>
                </a:lnTo>
                <a:lnTo>
                  <a:pt x="0" y="317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10000">
            <a:off x="-3182043" y="-1783535"/>
            <a:ext cx="23766232" cy="26657467"/>
          </a:xfrm>
          <a:custGeom>
            <a:avLst/>
            <a:gdLst/>
            <a:ahLst/>
            <a:cxnLst/>
            <a:rect r="r" b="b" t="t" l="l"/>
            <a:pathLst>
              <a:path h="26657467" w="23766232">
                <a:moveTo>
                  <a:pt x="0" y="0"/>
                </a:moveTo>
                <a:lnTo>
                  <a:pt x="23766231" y="0"/>
                </a:lnTo>
                <a:lnTo>
                  <a:pt x="23766231" y="26657467"/>
                </a:lnTo>
                <a:lnTo>
                  <a:pt x="0" y="26657467"/>
                </a:lnTo>
                <a:lnTo>
                  <a:pt x="0" y="0"/>
                </a:lnTo>
                <a:close/>
              </a:path>
            </a:pathLst>
          </a:custGeom>
          <a:blipFill>
            <a:blip r:embed="rId4"/>
            <a:stretch>
              <a:fillRect l="0" t="0" r="0" b="0"/>
            </a:stretch>
          </a:blipFill>
        </p:spPr>
      </p:sp>
      <p:sp>
        <p:nvSpPr>
          <p:cNvPr name="Freeform 4" id="4"/>
          <p:cNvSpPr/>
          <p:nvPr/>
        </p:nvSpPr>
        <p:spPr>
          <a:xfrm flipH="false" flipV="false" rot="715928">
            <a:off x="16589144" y="802856"/>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5"/>
            <a:stretch>
              <a:fillRect l="0" t="0" r="0" b="0"/>
            </a:stretch>
          </a:blipFill>
        </p:spPr>
      </p:sp>
      <p:sp>
        <p:nvSpPr>
          <p:cNvPr name="Freeform 5" id="5"/>
          <p:cNvSpPr/>
          <p:nvPr/>
        </p:nvSpPr>
        <p:spPr>
          <a:xfrm flipH="false" flipV="false" rot="712234">
            <a:off x="16473307" y="8698666"/>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090933" y="1051693"/>
            <a:ext cx="12490327"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Background</a:t>
            </a:r>
          </a:p>
        </p:txBody>
      </p:sp>
      <p:sp>
        <p:nvSpPr>
          <p:cNvPr name="Freeform 7" id="7"/>
          <p:cNvSpPr/>
          <p:nvPr/>
        </p:nvSpPr>
        <p:spPr>
          <a:xfrm flipH="false" flipV="false" rot="0">
            <a:off x="371475" y="-383014"/>
            <a:ext cx="2694963" cy="2499578"/>
          </a:xfrm>
          <a:custGeom>
            <a:avLst/>
            <a:gdLst/>
            <a:ahLst/>
            <a:cxnLst/>
            <a:rect r="r" b="b" t="t" l="l"/>
            <a:pathLst>
              <a:path h="2499578" w="2694963">
                <a:moveTo>
                  <a:pt x="0" y="0"/>
                </a:moveTo>
                <a:lnTo>
                  <a:pt x="2694963" y="0"/>
                </a:lnTo>
                <a:lnTo>
                  <a:pt x="2694963" y="2499578"/>
                </a:lnTo>
                <a:lnTo>
                  <a:pt x="0" y="2499578"/>
                </a:lnTo>
                <a:lnTo>
                  <a:pt x="0" y="0"/>
                </a:lnTo>
                <a:close/>
              </a:path>
            </a:pathLst>
          </a:custGeom>
          <a:blipFill>
            <a:blip r:embed="rId8"/>
            <a:stretch>
              <a:fillRect l="0" t="0" r="0" b="0"/>
            </a:stretch>
          </a:blipFill>
        </p:spPr>
      </p:sp>
      <p:sp>
        <p:nvSpPr>
          <p:cNvPr name="TextBox 8" id="8"/>
          <p:cNvSpPr txBox="true"/>
          <p:nvPr/>
        </p:nvSpPr>
        <p:spPr>
          <a:xfrm rot="0">
            <a:off x="3808214" y="2878258"/>
            <a:ext cx="11055765" cy="6546412"/>
          </a:xfrm>
          <a:prstGeom prst="rect">
            <a:avLst/>
          </a:prstGeom>
        </p:spPr>
        <p:txBody>
          <a:bodyPr anchor="t" rtlCol="false" tIns="0" lIns="0" bIns="0" rIns="0">
            <a:spAutoFit/>
          </a:bodyPr>
          <a:lstStyle/>
          <a:p>
            <a:pPr algn="ctr">
              <a:lnSpc>
                <a:spcPts val="5218"/>
              </a:lnSpc>
            </a:pPr>
            <a:r>
              <a:rPr lang="en-US" sz="3366" b="true">
                <a:solidFill>
                  <a:srgbClr val="000000"/>
                </a:solidFill>
                <a:latin typeface="Greycliff Bold"/>
                <a:ea typeface="Greycliff Bold"/>
                <a:cs typeface="Greycliff Bold"/>
                <a:sym typeface="Greycliff Bold"/>
              </a:rPr>
              <a:t>The rapid spread of misinformation and biased news on social media has made it harder for readers to separate fact from framing. While fact-checking tools can catch inaccuracies, they often miss the subtle ways language shapes perception. Research shows that framing bias not only distorts how people interpret events but also fuels polarization and erodes trust in institutions. This highlights the urgent need for tools that go beyond accuracy checks and instead build awareness of bias in real time.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68433" y="-6398036"/>
            <a:ext cx="21811985" cy="31726524"/>
          </a:xfrm>
          <a:custGeom>
            <a:avLst/>
            <a:gdLst/>
            <a:ahLst/>
            <a:cxnLst/>
            <a:rect r="r" b="b" t="t" l="l"/>
            <a:pathLst>
              <a:path h="31726524" w="21811985">
                <a:moveTo>
                  <a:pt x="0" y="0"/>
                </a:moveTo>
                <a:lnTo>
                  <a:pt x="21811985" y="0"/>
                </a:lnTo>
                <a:lnTo>
                  <a:pt x="21811985" y="31726524"/>
                </a:lnTo>
                <a:lnTo>
                  <a:pt x="0" y="317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10000">
            <a:off x="-3182043" y="-1783535"/>
            <a:ext cx="23766232" cy="26657467"/>
          </a:xfrm>
          <a:custGeom>
            <a:avLst/>
            <a:gdLst/>
            <a:ahLst/>
            <a:cxnLst/>
            <a:rect r="r" b="b" t="t" l="l"/>
            <a:pathLst>
              <a:path h="26657467" w="23766232">
                <a:moveTo>
                  <a:pt x="0" y="0"/>
                </a:moveTo>
                <a:lnTo>
                  <a:pt x="23766231" y="0"/>
                </a:lnTo>
                <a:lnTo>
                  <a:pt x="23766231" y="26657467"/>
                </a:lnTo>
                <a:lnTo>
                  <a:pt x="0" y="26657467"/>
                </a:lnTo>
                <a:lnTo>
                  <a:pt x="0" y="0"/>
                </a:lnTo>
                <a:close/>
              </a:path>
            </a:pathLst>
          </a:custGeom>
          <a:blipFill>
            <a:blip r:embed="rId4"/>
            <a:stretch>
              <a:fillRect l="0" t="0" r="0" b="0"/>
            </a:stretch>
          </a:blipFill>
        </p:spPr>
      </p:sp>
      <p:sp>
        <p:nvSpPr>
          <p:cNvPr name="Freeform 4" id="4"/>
          <p:cNvSpPr/>
          <p:nvPr/>
        </p:nvSpPr>
        <p:spPr>
          <a:xfrm flipH="false" flipV="false" rot="715928">
            <a:off x="16589144" y="802856"/>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5"/>
            <a:stretch>
              <a:fillRect l="0" t="0" r="0" b="0"/>
            </a:stretch>
          </a:blipFill>
        </p:spPr>
      </p:sp>
      <p:sp>
        <p:nvSpPr>
          <p:cNvPr name="Freeform 5" id="5"/>
          <p:cNvSpPr/>
          <p:nvPr/>
        </p:nvSpPr>
        <p:spPr>
          <a:xfrm flipH="false" flipV="false" rot="712234">
            <a:off x="16473307" y="8698666"/>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71475" y="-373489"/>
            <a:ext cx="2694963" cy="2499578"/>
          </a:xfrm>
          <a:custGeom>
            <a:avLst/>
            <a:gdLst/>
            <a:ahLst/>
            <a:cxnLst/>
            <a:rect r="r" b="b" t="t" l="l"/>
            <a:pathLst>
              <a:path h="2499578" w="2694963">
                <a:moveTo>
                  <a:pt x="0" y="0"/>
                </a:moveTo>
                <a:lnTo>
                  <a:pt x="2694963" y="0"/>
                </a:lnTo>
                <a:lnTo>
                  <a:pt x="2694963" y="2499578"/>
                </a:lnTo>
                <a:lnTo>
                  <a:pt x="0" y="2499578"/>
                </a:lnTo>
                <a:lnTo>
                  <a:pt x="0" y="0"/>
                </a:lnTo>
                <a:close/>
              </a:path>
            </a:pathLst>
          </a:custGeom>
          <a:blipFill>
            <a:blip r:embed="rId8"/>
            <a:stretch>
              <a:fillRect l="0" t="0" r="0" b="0"/>
            </a:stretch>
          </a:blipFill>
        </p:spPr>
      </p:sp>
      <p:sp>
        <p:nvSpPr>
          <p:cNvPr name="TextBox 7" id="7"/>
          <p:cNvSpPr txBox="true"/>
          <p:nvPr/>
        </p:nvSpPr>
        <p:spPr>
          <a:xfrm rot="0">
            <a:off x="3090933" y="1051693"/>
            <a:ext cx="12490327"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problems</a:t>
            </a:r>
          </a:p>
        </p:txBody>
      </p:sp>
      <p:sp>
        <p:nvSpPr>
          <p:cNvPr name="Freeform 8" id="8"/>
          <p:cNvSpPr/>
          <p:nvPr/>
        </p:nvSpPr>
        <p:spPr>
          <a:xfrm flipH="false" flipV="false" rot="-4967814">
            <a:off x="1533729" y="2378266"/>
            <a:ext cx="603281" cy="2144998"/>
          </a:xfrm>
          <a:custGeom>
            <a:avLst/>
            <a:gdLst/>
            <a:ahLst/>
            <a:cxnLst/>
            <a:rect r="r" b="b" t="t" l="l"/>
            <a:pathLst>
              <a:path h="2144998" w="603281">
                <a:moveTo>
                  <a:pt x="0" y="0"/>
                </a:moveTo>
                <a:lnTo>
                  <a:pt x="603281" y="0"/>
                </a:lnTo>
                <a:lnTo>
                  <a:pt x="603281" y="2144997"/>
                </a:lnTo>
                <a:lnTo>
                  <a:pt x="0" y="2144997"/>
                </a:lnTo>
                <a:lnTo>
                  <a:pt x="0" y="0"/>
                </a:lnTo>
                <a:close/>
              </a:path>
            </a:pathLst>
          </a:custGeom>
          <a:blipFill>
            <a:blip r:embed="rId9"/>
            <a:stretch>
              <a:fillRect l="0" t="0" r="0" b="0"/>
            </a:stretch>
          </a:blipFill>
        </p:spPr>
      </p:sp>
      <p:sp>
        <p:nvSpPr>
          <p:cNvPr name="Freeform 9" id="9"/>
          <p:cNvSpPr/>
          <p:nvPr/>
        </p:nvSpPr>
        <p:spPr>
          <a:xfrm flipH="false" flipV="false" rot="-4967814">
            <a:off x="1495629" y="5356273"/>
            <a:ext cx="603281" cy="2144998"/>
          </a:xfrm>
          <a:custGeom>
            <a:avLst/>
            <a:gdLst/>
            <a:ahLst/>
            <a:cxnLst/>
            <a:rect r="r" b="b" t="t" l="l"/>
            <a:pathLst>
              <a:path h="2144998" w="603281">
                <a:moveTo>
                  <a:pt x="0" y="0"/>
                </a:moveTo>
                <a:lnTo>
                  <a:pt x="603281" y="0"/>
                </a:lnTo>
                <a:lnTo>
                  <a:pt x="603281" y="2144998"/>
                </a:lnTo>
                <a:lnTo>
                  <a:pt x="0" y="2144998"/>
                </a:lnTo>
                <a:lnTo>
                  <a:pt x="0" y="0"/>
                </a:lnTo>
                <a:close/>
              </a:path>
            </a:pathLst>
          </a:custGeom>
          <a:blipFill>
            <a:blip r:embed="rId9"/>
            <a:stretch>
              <a:fillRect l="0" t="0" r="0" b="0"/>
            </a:stretch>
          </a:blipFill>
        </p:spPr>
      </p:sp>
      <p:sp>
        <p:nvSpPr>
          <p:cNvPr name="TextBox 10" id="10"/>
          <p:cNvSpPr txBox="true"/>
          <p:nvPr/>
        </p:nvSpPr>
        <p:spPr>
          <a:xfrm rot="0">
            <a:off x="3090933" y="2883677"/>
            <a:ext cx="12490327" cy="6458712"/>
          </a:xfrm>
          <a:prstGeom prst="rect">
            <a:avLst/>
          </a:prstGeom>
        </p:spPr>
        <p:txBody>
          <a:bodyPr anchor="t" rtlCol="false" tIns="0" lIns="0" bIns="0" rIns="0">
            <a:spAutoFit/>
          </a:bodyPr>
          <a:lstStyle/>
          <a:p>
            <a:pPr algn="l">
              <a:lnSpc>
                <a:spcPts val="4703"/>
              </a:lnSpc>
            </a:pPr>
            <a:r>
              <a:rPr lang="en-US" sz="2799" b="true">
                <a:solidFill>
                  <a:srgbClr val="000000"/>
                </a:solidFill>
                <a:latin typeface="Greycliff Bold"/>
                <a:ea typeface="Greycliff Bold"/>
                <a:cs typeface="Greycliff Bold"/>
                <a:sym typeface="Greycliff Bold"/>
              </a:rPr>
              <a:t>The central problem is that social media has become the main news source for many people, yet most readers struggle to detect bias in the way stories are framed. </a:t>
            </a:r>
          </a:p>
          <a:p>
            <a:pPr algn="l">
              <a:lnSpc>
                <a:spcPts val="4703"/>
              </a:lnSpc>
            </a:pPr>
          </a:p>
          <a:p>
            <a:pPr algn="l">
              <a:lnSpc>
                <a:spcPts val="4703"/>
              </a:lnSpc>
            </a:pPr>
            <a:r>
              <a:rPr lang="en-US" sz="2799" b="true">
                <a:solidFill>
                  <a:srgbClr val="000000"/>
                </a:solidFill>
                <a:latin typeface="Greycliff Bold"/>
                <a:ea typeface="Greycliff Bold"/>
                <a:cs typeface="Greycliff Bold"/>
                <a:sym typeface="Greycliff Bold"/>
              </a:rPr>
              <a:t>Subtle word choices and emotionally charged language often influence perception without readers realizing it. This framing bias can fuel political polarization, distort public understanding, and weaken trust in institutions. </a:t>
            </a:r>
          </a:p>
          <a:p>
            <a:pPr algn="l">
              <a:lnSpc>
                <a:spcPts val="4703"/>
              </a:lnSpc>
            </a:pPr>
          </a:p>
          <a:p>
            <a:pPr algn="l">
              <a:lnSpc>
                <a:spcPts val="4703"/>
              </a:lnSpc>
            </a:pPr>
            <a:r>
              <a:rPr lang="en-US" sz="2799" b="true">
                <a:solidFill>
                  <a:srgbClr val="000000"/>
                </a:solidFill>
                <a:latin typeface="Greycliff Bold"/>
                <a:ea typeface="Greycliff Bold"/>
                <a:cs typeface="Greycliff Bold"/>
                <a:sym typeface="Greycliff Bold"/>
              </a:rPr>
              <a:t>Current fact-checking tools largely address accuracy, leaving a critical gap in helping people recognize and question biased language. </a:t>
            </a:r>
          </a:p>
        </p:txBody>
      </p:sp>
      <p:sp>
        <p:nvSpPr>
          <p:cNvPr name="Freeform 11" id="11"/>
          <p:cNvSpPr/>
          <p:nvPr/>
        </p:nvSpPr>
        <p:spPr>
          <a:xfrm flipH="false" flipV="false" rot="-4967814">
            <a:off x="1495629" y="6223747"/>
            <a:ext cx="603281" cy="2144998"/>
          </a:xfrm>
          <a:custGeom>
            <a:avLst/>
            <a:gdLst/>
            <a:ahLst/>
            <a:cxnLst/>
            <a:rect r="r" b="b" t="t" l="l"/>
            <a:pathLst>
              <a:path h="2144998" w="603281">
                <a:moveTo>
                  <a:pt x="0" y="0"/>
                </a:moveTo>
                <a:lnTo>
                  <a:pt x="603281" y="0"/>
                </a:lnTo>
                <a:lnTo>
                  <a:pt x="603281" y="2144998"/>
                </a:lnTo>
                <a:lnTo>
                  <a:pt x="0" y="2144998"/>
                </a:lnTo>
                <a:lnTo>
                  <a:pt x="0" y="0"/>
                </a:lnTo>
                <a:close/>
              </a:path>
            </a:pathLst>
          </a:custGeom>
          <a:blipFill>
            <a:blip r:embed="rId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68433" y="-6398036"/>
            <a:ext cx="21811985" cy="31726524"/>
          </a:xfrm>
          <a:custGeom>
            <a:avLst/>
            <a:gdLst/>
            <a:ahLst/>
            <a:cxnLst/>
            <a:rect r="r" b="b" t="t" l="l"/>
            <a:pathLst>
              <a:path h="31726524" w="21811985">
                <a:moveTo>
                  <a:pt x="0" y="0"/>
                </a:moveTo>
                <a:lnTo>
                  <a:pt x="21811985" y="0"/>
                </a:lnTo>
                <a:lnTo>
                  <a:pt x="21811985" y="31726524"/>
                </a:lnTo>
                <a:lnTo>
                  <a:pt x="0" y="317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10000">
            <a:off x="-3182043" y="-1783535"/>
            <a:ext cx="23766232" cy="26657467"/>
          </a:xfrm>
          <a:custGeom>
            <a:avLst/>
            <a:gdLst/>
            <a:ahLst/>
            <a:cxnLst/>
            <a:rect r="r" b="b" t="t" l="l"/>
            <a:pathLst>
              <a:path h="26657467" w="23766232">
                <a:moveTo>
                  <a:pt x="0" y="0"/>
                </a:moveTo>
                <a:lnTo>
                  <a:pt x="23766231" y="0"/>
                </a:lnTo>
                <a:lnTo>
                  <a:pt x="23766231" y="26657467"/>
                </a:lnTo>
                <a:lnTo>
                  <a:pt x="0" y="26657467"/>
                </a:lnTo>
                <a:lnTo>
                  <a:pt x="0" y="0"/>
                </a:lnTo>
                <a:close/>
              </a:path>
            </a:pathLst>
          </a:custGeom>
          <a:blipFill>
            <a:blip r:embed="rId4"/>
            <a:stretch>
              <a:fillRect l="0" t="0" r="0" b="0"/>
            </a:stretch>
          </a:blipFill>
        </p:spPr>
      </p:sp>
      <p:sp>
        <p:nvSpPr>
          <p:cNvPr name="Freeform 4" id="4"/>
          <p:cNvSpPr/>
          <p:nvPr/>
        </p:nvSpPr>
        <p:spPr>
          <a:xfrm flipH="false" flipV="false" rot="715928">
            <a:off x="16589144" y="802856"/>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5"/>
            <a:stretch>
              <a:fillRect l="0" t="0" r="0" b="0"/>
            </a:stretch>
          </a:blipFill>
        </p:spPr>
      </p:sp>
      <p:sp>
        <p:nvSpPr>
          <p:cNvPr name="Freeform 5" id="5"/>
          <p:cNvSpPr/>
          <p:nvPr/>
        </p:nvSpPr>
        <p:spPr>
          <a:xfrm flipH="false" flipV="false" rot="712234">
            <a:off x="16473307" y="8698666"/>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71475" y="-373489"/>
            <a:ext cx="2694963" cy="2499578"/>
          </a:xfrm>
          <a:custGeom>
            <a:avLst/>
            <a:gdLst/>
            <a:ahLst/>
            <a:cxnLst/>
            <a:rect r="r" b="b" t="t" l="l"/>
            <a:pathLst>
              <a:path h="2499578" w="2694963">
                <a:moveTo>
                  <a:pt x="0" y="0"/>
                </a:moveTo>
                <a:lnTo>
                  <a:pt x="2694963" y="0"/>
                </a:lnTo>
                <a:lnTo>
                  <a:pt x="2694963" y="2499578"/>
                </a:lnTo>
                <a:lnTo>
                  <a:pt x="0" y="2499578"/>
                </a:lnTo>
                <a:lnTo>
                  <a:pt x="0" y="0"/>
                </a:lnTo>
                <a:close/>
              </a:path>
            </a:pathLst>
          </a:custGeom>
          <a:blipFill>
            <a:blip r:embed="rId8"/>
            <a:stretch>
              <a:fillRect l="0" t="0" r="0" b="0"/>
            </a:stretch>
          </a:blipFill>
        </p:spPr>
      </p:sp>
      <p:sp>
        <p:nvSpPr>
          <p:cNvPr name="TextBox 7" id="7"/>
          <p:cNvSpPr txBox="true"/>
          <p:nvPr/>
        </p:nvSpPr>
        <p:spPr>
          <a:xfrm rot="0">
            <a:off x="3090933" y="1051693"/>
            <a:ext cx="12490327"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The Gap</a:t>
            </a:r>
          </a:p>
        </p:txBody>
      </p:sp>
      <p:sp>
        <p:nvSpPr>
          <p:cNvPr name="TextBox 8" id="8"/>
          <p:cNvSpPr txBox="true"/>
          <p:nvPr/>
        </p:nvSpPr>
        <p:spPr>
          <a:xfrm rot="0">
            <a:off x="3300483" y="3018155"/>
            <a:ext cx="12490327" cy="6662420"/>
          </a:xfrm>
          <a:prstGeom prst="rect">
            <a:avLst/>
          </a:prstGeom>
        </p:spPr>
        <p:txBody>
          <a:bodyPr anchor="t" rtlCol="false" tIns="0" lIns="0" bIns="0" rIns="0">
            <a:spAutoFit/>
          </a:bodyPr>
          <a:lstStyle/>
          <a:p>
            <a:pPr algn="just">
              <a:lnSpc>
                <a:spcPts val="4810"/>
              </a:lnSpc>
            </a:pPr>
            <a:r>
              <a:rPr lang="en-US" sz="2600" b="true">
                <a:solidFill>
                  <a:srgbClr val="000000"/>
                </a:solidFill>
                <a:latin typeface="Greycliff Bold"/>
                <a:ea typeface="Greycliff Bold"/>
                <a:cs typeface="Greycliff Bold"/>
                <a:sym typeface="Greycliff Bold"/>
              </a:rPr>
              <a:t>While fact-checking tools are useful for verifying accuracy, they rarely address the deeper issue of framing bias—the way language can subtly shape interpretation. </a:t>
            </a:r>
          </a:p>
          <a:p>
            <a:pPr algn="just">
              <a:lnSpc>
                <a:spcPts val="4810"/>
              </a:lnSpc>
            </a:pPr>
          </a:p>
          <a:p>
            <a:pPr algn="just">
              <a:lnSpc>
                <a:spcPts val="4810"/>
              </a:lnSpc>
            </a:pPr>
            <a:r>
              <a:rPr lang="en-US" sz="2600" b="true">
                <a:solidFill>
                  <a:srgbClr val="000000"/>
                </a:solidFill>
                <a:latin typeface="Greycliff Bold"/>
                <a:ea typeface="Greycliff Bold"/>
                <a:cs typeface="Greycliff Bold"/>
                <a:sym typeface="Greycliff Bold"/>
              </a:rPr>
              <a:t>Readers may know whether a claim is true or false, but they are left vulnerable to manipulative phrasing and slanted word choices that influence perception. </a:t>
            </a:r>
          </a:p>
          <a:p>
            <a:pPr algn="just">
              <a:lnSpc>
                <a:spcPts val="4810"/>
              </a:lnSpc>
            </a:pPr>
          </a:p>
          <a:p>
            <a:pPr algn="just">
              <a:lnSpc>
                <a:spcPts val="4810"/>
              </a:lnSpc>
            </a:pPr>
            <a:r>
              <a:rPr lang="en-US" sz="2600" b="true">
                <a:solidFill>
                  <a:srgbClr val="000000"/>
                </a:solidFill>
                <a:latin typeface="Greycliff Bold"/>
                <a:ea typeface="Greycliff Bold"/>
                <a:cs typeface="Greycliff Bold"/>
                <a:sym typeface="Greycliff Bold"/>
              </a:rPr>
              <a:t>This gap highlights the need for a tool that not only identifies factual inaccuracies but also empowers users to recognize and challenge biased framing in real time.</a:t>
            </a:r>
          </a:p>
        </p:txBody>
      </p:sp>
      <p:sp>
        <p:nvSpPr>
          <p:cNvPr name="Freeform 9" id="9"/>
          <p:cNvSpPr/>
          <p:nvPr/>
        </p:nvSpPr>
        <p:spPr>
          <a:xfrm flipH="false" flipV="false" rot="140385">
            <a:off x="14972614" y="4177488"/>
            <a:ext cx="1636393" cy="1343888"/>
          </a:xfrm>
          <a:custGeom>
            <a:avLst/>
            <a:gdLst/>
            <a:ahLst/>
            <a:cxnLst/>
            <a:rect r="r" b="b" t="t" l="l"/>
            <a:pathLst>
              <a:path h="1343888" w="1636393">
                <a:moveTo>
                  <a:pt x="0" y="0"/>
                </a:moveTo>
                <a:lnTo>
                  <a:pt x="1636393" y="0"/>
                </a:lnTo>
                <a:lnTo>
                  <a:pt x="1636393" y="1343888"/>
                </a:lnTo>
                <a:lnTo>
                  <a:pt x="0" y="13438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false" rot="140385">
            <a:off x="2248241" y="7405749"/>
            <a:ext cx="1636393" cy="1343888"/>
          </a:xfrm>
          <a:custGeom>
            <a:avLst/>
            <a:gdLst/>
            <a:ahLst/>
            <a:cxnLst/>
            <a:rect r="r" b="b" t="t" l="l"/>
            <a:pathLst>
              <a:path h="1343888" w="1636393">
                <a:moveTo>
                  <a:pt x="1636394" y="0"/>
                </a:moveTo>
                <a:lnTo>
                  <a:pt x="0" y="0"/>
                </a:lnTo>
                <a:lnTo>
                  <a:pt x="0" y="1343888"/>
                </a:lnTo>
                <a:lnTo>
                  <a:pt x="1636394" y="1343888"/>
                </a:lnTo>
                <a:lnTo>
                  <a:pt x="163639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622448" y="3018155"/>
            <a:ext cx="1198086"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1</a:t>
            </a:r>
          </a:p>
        </p:txBody>
      </p:sp>
      <p:sp>
        <p:nvSpPr>
          <p:cNvPr name="TextBox 12" id="12"/>
          <p:cNvSpPr txBox="true"/>
          <p:nvPr/>
        </p:nvSpPr>
        <p:spPr>
          <a:xfrm rot="0">
            <a:off x="1622448" y="5996163"/>
            <a:ext cx="1198086"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68433" y="-6398036"/>
            <a:ext cx="21811985" cy="31726524"/>
          </a:xfrm>
          <a:custGeom>
            <a:avLst/>
            <a:gdLst/>
            <a:ahLst/>
            <a:cxnLst/>
            <a:rect r="r" b="b" t="t" l="l"/>
            <a:pathLst>
              <a:path h="31726524" w="21811985">
                <a:moveTo>
                  <a:pt x="0" y="0"/>
                </a:moveTo>
                <a:lnTo>
                  <a:pt x="21811985" y="0"/>
                </a:lnTo>
                <a:lnTo>
                  <a:pt x="21811985" y="31726524"/>
                </a:lnTo>
                <a:lnTo>
                  <a:pt x="0" y="317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10000">
            <a:off x="-3182043" y="-1783535"/>
            <a:ext cx="23766232" cy="26657467"/>
          </a:xfrm>
          <a:custGeom>
            <a:avLst/>
            <a:gdLst/>
            <a:ahLst/>
            <a:cxnLst/>
            <a:rect r="r" b="b" t="t" l="l"/>
            <a:pathLst>
              <a:path h="26657467" w="23766232">
                <a:moveTo>
                  <a:pt x="0" y="0"/>
                </a:moveTo>
                <a:lnTo>
                  <a:pt x="23766231" y="0"/>
                </a:lnTo>
                <a:lnTo>
                  <a:pt x="23766231" y="26657467"/>
                </a:lnTo>
                <a:lnTo>
                  <a:pt x="0" y="26657467"/>
                </a:lnTo>
                <a:lnTo>
                  <a:pt x="0" y="0"/>
                </a:lnTo>
                <a:close/>
              </a:path>
            </a:pathLst>
          </a:custGeom>
          <a:blipFill>
            <a:blip r:embed="rId4"/>
            <a:stretch>
              <a:fillRect l="0" t="0" r="0" b="0"/>
            </a:stretch>
          </a:blipFill>
        </p:spPr>
      </p:sp>
      <p:sp>
        <p:nvSpPr>
          <p:cNvPr name="Freeform 4" id="4"/>
          <p:cNvSpPr/>
          <p:nvPr/>
        </p:nvSpPr>
        <p:spPr>
          <a:xfrm flipH="false" flipV="false" rot="715928">
            <a:off x="16589144" y="802856"/>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5"/>
            <a:stretch>
              <a:fillRect l="0" t="0" r="0" b="0"/>
            </a:stretch>
          </a:blipFill>
        </p:spPr>
      </p:sp>
      <p:sp>
        <p:nvSpPr>
          <p:cNvPr name="Freeform 5" id="5"/>
          <p:cNvSpPr/>
          <p:nvPr/>
        </p:nvSpPr>
        <p:spPr>
          <a:xfrm flipH="false" flipV="false" rot="712234">
            <a:off x="16473307" y="8698666"/>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71475" y="-383014"/>
            <a:ext cx="2694963" cy="2499578"/>
          </a:xfrm>
          <a:custGeom>
            <a:avLst/>
            <a:gdLst/>
            <a:ahLst/>
            <a:cxnLst/>
            <a:rect r="r" b="b" t="t" l="l"/>
            <a:pathLst>
              <a:path h="2499578" w="2694963">
                <a:moveTo>
                  <a:pt x="0" y="0"/>
                </a:moveTo>
                <a:lnTo>
                  <a:pt x="2694963" y="0"/>
                </a:lnTo>
                <a:lnTo>
                  <a:pt x="2694963" y="2499578"/>
                </a:lnTo>
                <a:lnTo>
                  <a:pt x="0" y="2499578"/>
                </a:lnTo>
                <a:lnTo>
                  <a:pt x="0" y="0"/>
                </a:lnTo>
                <a:close/>
              </a:path>
            </a:pathLst>
          </a:custGeom>
          <a:blipFill>
            <a:blip r:embed="rId8"/>
            <a:stretch>
              <a:fillRect l="0" t="0" r="0" b="0"/>
            </a:stretch>
          </a:blipFill>
        </p:spPr>
      </p:sp>
      <p:sp>
        <p:nvSpPr>
          <p:cNvPr name="TextBox 7" id="7"/>
          <p:cNvSpPr txBox="true"/>
          <p:nvPr/>
        </p:nvSpPr>
        <p:spPr>
          <a:xfrm rot="0">
            <a:off x="3090933" y="1051693"/>
            <a:ext cx="12490327"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Our Solution</a:t>
            </a:r>
          </a:p>
        </p:txBody>
      </p:sp>
      <p:sp>
        <p:nvSpPr>
          <p:cNvPr name="Freeform 8" id="8"/>
          <p:cNvSpPr/>
          <p:nvPr/>
        </p:nvSpPr>
        <p:spPr>
          <a:xfrm flipH="false" flipV="false" rot="0">
            <a:off x="9338005" y="7820974"/>
            <a:ext cx="6996818" cy="1644252"/>
          </a:xfrm>
          <a:custGeom>
            <a:avLst/>
            <a:gdLst/>
            <a:ahLst/>
            <a:cxnLst/>
            <a:rect r="r" b="b" t="t" l="l"/>
            <a:pathLst>
              <a:path h="1644252" w="6996818">
                <a:moveTo>
                  <a:pt x="0" y="0"/>
                </a:moveTo>
                <a:lnTo>
                  <a:pt x="6996819" y="0"/>
                </a:lnTo>
                <a:lnTo>
                  <a:pt x="6996819" y="1644252"/>
                </a:lnTo>
                <a:lnTo>
                  <a:pt x="0" y="1644252"/>
                </a:lnTo>
                <a:lnTo>
                  <a:pt x="0" y="0"/>
                </a:lnTo>
                <a:close/>
              </a:path>
            </a:pathLst>
          </a:custGeom>
          <a:blipFill>
            <a:blip r:embed="rId9"/>
            <a:stretch>
              <a:fillRect l="0" t="0" r="0" b="0"/>
            </a:stretch>
          </a:blipFill>
        </p:spPr>
      </p:sp>
      <p:sp>
        <p:nvSpPr>
          <p:cNvPr name="Freeform 9" id="9"/>
          <p:cNvSpPr/>
          <p:nvPr/>
        </p:nvSpPr>
        <p:spPr>
          <a:xfrm flipH="false" flipV="false" rot="0">
            <a:off x="9771386" y="3929983"/>
            <a:ext cx="6130056" cy="5060747"/>
          </a:xfrm>
          <a:custGeom>
            <a:avLst/>
            <a:gdLst/>
            <a:ahLst/>
            <a:cxnLst/>
            <a:rect r="r" b="b" t="t" l="l"/>
            <a:pathLst>
              <a:path h="5060747" w="6130056">
                <a:moveTo>
                  <a:pt x="0" y="0"/>
                </a:moveTo>
                <a:lnTo>
                  <a:pt x="6130056" y="0"/>
                </a:lnTo>
                <a:lnTo>
                  <a:pt x="6130056" y="5060747"/>
                </a:lnTo>
                <a:lnTo>
                  <a:pt x="0" y="5060747"/>
                </a:lnTo>
                <a:lnTo>
                  <a:pt x="0" y="0"/>
                </a:lnTo>
                <a:close/>
              </a:path>
            </a:pathLst>
          </a:custGeom>
          <a:blipFill>
            <a:blip r:embed="rId10"/>
            <a:stretch>
              <a:fillRect l="-24655" t="0" r="-24655" b="0"/>
            </a:stretch>
          </a:blipFill>
        </p:spPr>
      </p:sp>
      <p:sp>
        <p:nvSpPr>
          <p:cNvPr name="TextBox 10" id="10"/>
          <p:cNvSpPr txBox="true"/>
          <p:nvPr/>
        </p:nvSpPr>
        <p:spPr>
          <a:xfrm rot="0">
            <a:off x="10106801" y="4549805"/>
            <a:ext cx="5459226" cy="3453130"/>
          </a:xfrm>
          <a:prstGeom prst="rect">
            <a:avLst/>
          </a:prstGeom>
        </p:spPr>
        <p:txBody>
          <a:bodyPr anchor="t" rtlCol="false" tIns="0" lIns="0" bIns="0" rIns="0">
            <a:spAutoFit/>
          </a:bodyPr>
          <a:lstStyle/>
          <a:p>
            <a:pPr algn="l">
              <a:lnSpc>
                <a:spcPts val="3919"/>
              </a:lnSpc>
            </a:pPr>
            <a:r>
              <a:rPr lang="en-US" sz="2799" b="true">
                <a:solidFill>
                  <a:srgbClr val="000000"/>
                </a:solidFill>
                <a:latin typeface="Greycliff Bold"/>
                <a:ea typeface="Greycliff Bold"/>
                <a:cs typeface="Greycliff Bold"/>
                <a:sym typeface="Greycliff Bold"/>
              </a:rPr>
              <a:t>Unlike traditional fact-checkers that focus only on accuracy, SpinSpotter directly addresses framing bias, giving users the tools to critically evaluate not just what is being said, but how it is being said.</a:t>
            </a:r>
          </a:p>
        </p:txBody>
      </p:sp>
      <p:sp>
        <p:nvSpPr>
          <p:cNvPr name="Freeform 11" id="11"/>
          <p:cNvSpPr/>
          <p:nvPr/>
        </p:nvSpPr>
        <p:spPr>
          <a:xfrm flipH="false" flipV="false" rot="0">
            <a:off x="2698368" y="6833178"/>
            <a:ext cx="6996818" cy="1644252"/>
          </a:xfrm>
          <a:custGeom>
            <a:avLst/>
            <a:gdLst/>
            <a:ahLst/>
            <a:cxnLst/>
            <a:rect r="r" b="b" t="t" l="l"/>
            <a:pathLst>
              <a:path h="1644252" w="6996818">
                <a:moveTo>
                  <a:pt x="0" y="0"/>
                </a:moveTo>
                <a:lnTo>
                  <a:pt x="6996818" y="0"/>
                </a:lnTo>
                <a:lnTo>
                  <a:pt x="6996818" y="1644253"/>
                </a:lnTo>
                <a:lnTo>
                  <a:pt x="0" y="1644253"/>
                </a:lnTo>
                <a:lnTo>
                  <a:pt x="0" y="0"/>
                </a:lnTo>
                <a:close/>
              </a:path>
            </a:pathLst>
          </a:custGeom>
          <a:blipFill>
            <a:blip r:embed="rId9"/>
            <a:stretch>
              <a:fillRect l="0" t="0" r="0" b="0"/>
            </a:stretch>
          </a:blipFill>
        </p:spPr>
      </p:sp>
      <p:sp>
        <p:nvSpPr>
          <p:cNvPr name="Freeform 12" id="12"/>
          <p:cNvSpPr/>
          <p:nvPr/>
        </p:nvSpPr>
        <p:spPr>
          <a:xfrm flipH="false" flipV="false" rot="0">
            <a:off x="3131749" y="2942188"/>
            <a:ext cx="6130056" cy="5060747"/>
          </a:xfrm>
          <a:custGeom>
            <a:avLst/>
            <a:gdLst/>
            <a:ahLst/>
            <a:cxnLst/>
            <a:rect r="r" b="b" t="t" l="l"/>
            <a:pathLst>
              <a:path h="5060747" w="6130056">
                <a:moveTo>
                  <a:pt x="0" y="0"/>
                </a:moveTo>
                <a:lnTo>
                  <a:pt x="6130056" y="0"/>
                </a:lnTo>
                <a:lnTo>
                  <a:pt x="6130056" y="5060747"/>
                </a:lnTo>
                <a:lnTo>
                  <a:pt x="0" y="5060747"/>
                </a:lnTo>
                <a:lnTo>
                  <a:pt x="0" y="0"/>
                </a:lnTo>
                <a:close/>
              </a:path>
            </a:pathLst>
          </a:custGeom>
          <a:blipFill>
            <a:blip r:embed="rId10"/>
            <a:stretch>
              <a:fillRect l="-24655" t="0" r="-24655" b="0"/>
            </a:stretch>
          </a:blipFill>
        </p:spPr>
      </p:sp>
      <p:sp>
        <p:nvSpPr>
          <p:cNvPr name="TextBox 13" id="13"/>
          <p:cNvSpPr txBox="true"/>
          <p:nvPr/>
        </p:nvSpPr>
        <p:spPr>
          <a:xfrm rot="0">
            <a:off x="3492135" y="3150235"/>
            <a:ext cx="5459226" cy="4596765"/>
          </a:xfrm>
          <a:prstGeom prst="rect">
            <a:avLst/>
          </a:prstGeom>
        </p:spPr>
        <p:txBody>
          <a:bodyPr anchor="t" rtlCol="false" tIns="0" lIns="0" bIns="0" rIns="0">
            <a:spAutoFit/>
          </a:bodyPr>
          <a:lstStyle/>
          <a:p>
            <a:pPr algn="l">
              <a:lnSpc>
                <a:spcPts val="3360"/>
              </a:lnSpc>
            </a:pPr>
            <a:r>
              <a:rPr lang="en-US" sz="2400" b="true">
                <a:solidFill>
                  <a:srgbClr val="000000"/>
                </a:solidFill>
                <a:latin typeface="Greycliff Bold"/>
                <a:ea typeface="Greycliff Bold"/>
                <a:cs typeface="Greycliff Bold"/>
                <a:sym typeface="Greycliff Bold"/>
              </a:rPr>
              <a:t>Our solution is SpinSpotter, a browser extension and mobile app that detects and highlights biased language in real time. Using natural language processing (NLP) and explainable AI (XAI), SpinSpotter flags emotionally charged or manipulative phrasing, suggests more neutral alternatives, and provides links to diverse perspectives.</a:t>
            </a:r>
          </a:p>
        </p:txBody>
      </p:sp>
      <p:sp>
        <p:nvSpPr>
          <p:cNvPr name="Freeform 14" id="14"/>
          <p:cNvSpPr/>
          <p:nvPr/>
        </p:nvSpPr>
        <p:spPr>
          <a:xfrm flipH="false" flipV="false" rot="-904853">
            <a:off x="2624464" y="2572979"/>
            <a:ext cx="1735343" cy="637739"/>
          </a:xfrm>
          <a:custGeom>
            <a:avLst/>
            <a:gdLst/>
            <a:ahLst/>
            <a:cxnLst/>
            <a:rect r="r" b="b" t="t" l="l"/>
            <a:pathLst>
              <a:path h="637739" w="1735343">
                <a:moveTo>
                  <a:pt x="0" y="0"/>
                </a:moveTo>
                <a:lnTo>
                  <a:pt x="1735343" y="0"/>
                </a:lnTo>
                <a:lnTo>
                  <a:pt x="1735343" y="637738"/>
                </a:lnTo>
                <a:lnTo>
                  <a:pt x="0" y="637738"/>
                </a:lnTo>
                <a:lnTo>
                  <a:pt x="0" y="0"/>
                </a:lnTo>
                <a:close/>
              </a:path>
            </a:pathLst>
          </a:custGeom>
          <a:blipFill>
            <a:blip r:embed="rId11"/>
            <a:stretch>
              <a:fillRect l="0" t="0" r="0" b="0"/>
            </a:stretch>
          </a:blipFill>
        </p:spPr>
      </p:sp>
      <p:sp>
        <p:nvSpPr>
          <p:cNvPr name="Freeform 15" id="15"/>
          <p:cNvSpPr/>
          <p:nvPr/>
        </p:nvSpPr>
        <p:spPr>
          <a:xfrm flipH="false" flipV="false" rot="0">
            <a:off x="7535987" y="2623318"/>
            <a:ext cx="1735343" cy="637739"/>
          </a:xfrm>
          <a:custGeom>
            <a:avLst/>
            <a:gdLst/>
            <a:ahLst/>
            <a:cxnLst/>
            <a:rect r="r" b="b" t="t" l="l"/>
            <a:pathLst>
              <a:path h="637739" w="1735343">
                <a:moveTo>
                  <a:pt x="0" y="0"/>
                </a:moveTo>
                <a:lnTo>
                  <a:pt x="1735343" y="0"/>
                </a:lnTo>
                <a:lnTo>
                  <a:pt x="1735343" y="637739"/>
                </a:lnTo>
                <a:lnTo>
                  <a:pt x="0" y="637739"/>
                </a:lnTo>
                <a:lnTo>
                  <a:pt x="0" y="0"/>
                </a:lnTo>
                <a:close/>
              </a:path>
            </a:pathLst>
          </a:custGeom>
          <a:blipFill>
            <a:blip r:embed="rId11"/>
            <a:stretch>
              <a:fillRect l="0" t="0" r="0" b="0"/>
            </a:stretch>
          </a:blipFill>
        </p:spPr>
      </p:sp>
      <p:sp>
        <p:nvSpPr>
          <p:cNvPr name="Freeform 16" id="16"/>
          <p:cNvSpPr/>
          <p:nvPr/>
        </p:nvSpPr>
        <p:spPr>
          <a:xfrm flipH="false" flipV="false" rot="0">
            <a:off x="11968743" y="3670914"/>
            <a:ext cx="1735343" cy="637739"/>
          </a:xfrm>
          <a:custGeom>
            <a:avLst/>
            <a:gdLst/>
            <a:ahLst/>
            <a:cxnLst/>
            <a:rect r="r" b="b" t="t" l="l"/>
            <a:pathLst>
              <a:path h="637739" w="1735343">
                <a:moveTo>
                  <a:pt x="0" y="0"/>
                </a:moveTo>
                <a:lnTo>
                  <a:pt x="1735343" y="0"/>
                </a:lnTo>
                <a:lnTo>
                  <a:pt x="1735343" y="637739"/>
                </a:lnTo>
                <a:lnTo>
                  <a:pt x="0" y="637739"/>
                </a:lnTo>
                <a:lnTo>
                  <a:pt x="0" y="0"/>
                </a:lnTo>
                <a:close/>
              </a:path>
            </a:pathLst>
          </a:custGeom>
          <a:blipFill>
            <a:blip r:embed="rId11"/>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68433" y="-6398036"/>
            <a:ext cx="21811985" cy="31726524"/>
          </a:xfrm>
          <a:custGeom>
            <a:avLst/>
            <a:gdLst/>
            <a:ahLst/>
            <a:cxnLst/>
            <a:rect r="r" b="b" t="t" l="l"/>
            <a:pathLst>
              <a:path h="31726524" w="21811985">
                <a:moveTo>
                  <a:pt x="0" y="0"/>
                </a:moveTo>
                <a:lnTo>
                  <a:pt x="21811985" y="0"/>
                </a:lnTo>
                <a:lnTo>
                  <a:pt x="21811985" y="31726524"/>
                </a:lnTo>
                <a:lnTo>
                  <a:pt x="0" y="317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10000">
            <a:off x="-3182043" y="-1783535"/>
            <a:ext cx="23766232" cy="26657467"/>
          </a:xfrm>
          <a:custGeom>
            <a:avLst/>
            <a:gdLst/>
            <a:ahLst/>
            <a:cxnLst/>
            <a:rect r="r" b="b" t="t" l="l"/>
            <a:pathLst>
              <a:path h="26657467" w="23766232">
                <a:moveTo>
                  <a:pt x="0" y="0"/>
                </a:moveTo>
                <a:lnTo>
                  <a:pt x="23766231" y="0"/>
                </a:lnTo>
                <a:lnTo>
                  <a:pt x="23766231" y="26657467"/>
                </a:lnTo>
                <a:lnTo>
                  <a:pt x="0" y="26657467"/>
                </a:lnTo>
                <a:lnTo>
                  <a:pt x="0" y="0"/>
                </a:lnTo>
                <a:close/>
              </a:path>
            </a:pathLst>
          </a:custGeom>
          <a:blipFill>
            <a:blip r:embed="rId4"/>
            <a:stretch>
              <a:fillRect l="0" t="0" r="0" b="0"/>
            </a:stretch>
          </a:blipFill>
        </p:spPr>
      </p:sp>
      <p:sp>
        <p:nvSpPr>
          <p:cNvPr name="Freeform 4" id="4"/>
          <p:cNvSpPr/>
          <p:nvPr/>
        </p:nvSpPr>
        <p:spPr>
          <a:xfrm flipH="false" flipV="false" rot="715928">
            <a:off x="16589144" y="802856"/>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5"/>
            <a:stretch>
              <a:fillRect l="0" t="0" r="0" b="0"/>
            </a:stretch>
          </a:blipFill>
        </p:spPr>
      </p:sp>
      <p:sp>
        <p:nvSpPr>
          <p:cNvPr name="Freeform 5" id="5"/>
          <p:cNvSpPr/>
          <p:nvPr/>
        </p:nvSpPr>
        <p:spPr>
          <a:xfrm flipH="false" flipV="false" rot="712234">
            <a:off x="16473307" y="8698666"/>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090933" y="1051693"/>
            <a:ext cx="12490327"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Why It Matters</a:t>
            </a:r>
          </a:p>
        </p:txBody>
      </p:sp>
      <p:sp>
        <p:nvSpPr>
          <p:cNvPr name="TextBox 7" id="7"/>
          <p:cNvSpPr txBox="true"/>
          <p:nvPr/>
        </p:nvSpPr>
        <p:spPr>
          <a:xfrm rot="0">
            <a:off x="8344120" y="2609403"/>
            <a:ext cx="7642349" cy="7043293"/>
          </a:xfrm>
          <a:prstGeom prst="rect">
            <a:avLst/>
          </a:prstGeom>
        </p:spPr>
        <p:txBody>
          <a:bodyPr anchor="t" rtlCol="false" tIns="0" lIns="0" bIns="0" rIns="0">
            <a:spAutoFit/>
          </a:bodyPr>
          <a:lstStyle/>
          <a:p>
            <a:pPr algn="l">
              <a:lnSpc>
                <a:spcPts val="4675"/>
              </a:lnSpc>
            </a:pPr>
            <a:r>
              <a:rPr lang="en-US" sz="2799" b="true">
                <a:solidFill>
                  <a:srgbClr val="000000"/>
                </a:solidFill>
                <a:latin typeface="Greycliff Bold"/>
                <a:ea typeface="Greycliff Bold"/>
                <a:cs typeface="Greycliff Bold"/>
                <a:sym typeface="Greycliff Bold"/>
              </a:rPr>
              <a:t>This project matters because biased language has a powerful influence on how people interpret information, shaping beliefs and fueling division. By increasing awareness of framing bias, SpinSpotter promotes media literacy and helps users think critically about the content they consume. Empowering individuals to recognize manipulation not only strengthens trust in information ecosystems but also supports healthier public dialogue and decision-making. </a:t>
            </a:r>
          </a:p>
        </p:txBody>
      </p:sp>
      <p:pic>
        <p:nvPicPr>
          <p:cNvPr name="Picture 8" id="8"/>
          <p:cNvPicPr>
            <a:picLocks noChangeAspect="true"/>
          </p:cNvPicPr>
          <p:nvPr/>
        </p:nvPicPr>
        <p:blipFill>
          <a:blip r:embed="rId8"/>
          <a:stretch>
            <a:fillRect/>
          </a:stretch>
        </p:blipFill>
        <p:spPr>
          <a:xfrm rot="0">
            <a:off x="2888978" y="3088374"/>
            <a:ext cx="5533686" cy="5533686"/>
          </a:xfrm>
          <a:prstGeom prst="rect">
            <a:avLst/>
          </a:prstGeom>
        </p:spPr>
      </p:pic>
      <p:sp>
        <p:nvSpPr>
          <p:cNvPr name="Freeform 9" id="9"/>
          <p:cNvSpPr/>
          <p:nvPr/>
        </p:nvSpPr>
        <p:spPr>
          <a:xfrm flipH="false" flipV="false" rot="0">
            <a:off x="371475" y="-383014"/>
            <a:ext cx="2694963" cy="2499578"/>
          </a:xfrm>
          <a:custGeom>
            <a:avLst/>
            <a:gdLst/>
            <a:ahLst/>
            <a:cxnLst/>
            <a:rect r="r" b="b" t="t" l="l"/>
            <a:pathLst>
              <a:path h="2499578" w="2694963">
                <a:moveTo>
                  <a:pt x="0" y="0"/>
                </a:moveTo>
                <a:lnTo>
                  <a:pt x="2694963" y="0"/>
                </a:lnTo>
                <a:lnTo>
                  <a:pt x="2694963" y="2499578"/>
                </a:lnTo>
                <a:lnTo>
                  <a:pt x="0" y="2499578"/>
                </a:lnTo>
                <a:lnTo>
                  <a:pt x="0" y="0"/>
                </a:lnTo>
                <a:close/>
              </a:path>
            </a:pathLst>
          </a:custGeom>
          <a:blipFill>
            <a:blip r:embed="rId9"/>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68433" y="-6398036"/>
            <a:ext cx="21811985" cy="31726524"/>
          </a:xfrm>
          <a:custGeom>
            <a:avLst/>
            <a:gdLst/>
            <a:ahLst/>
            <a:cxnLst/>
            <a:rect r="r" b="b" t="t" l="l"/>
            <a:pathLst>
              <a:path h="31726524" w="21811985">
                <a:moveTo>
                  <a:pt x="0" y="0"/>
                </a:moveTo>
                <a:lnTo>
                  <a:pt x="21811985" y="0"/>
                </a:lnTo>
                <a:lnTo>
                  <a:pt x="21811985" y="31726524"/>
                </a:lnTo>
                <a:lnTo>
                  <a:pt x="0" y="317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10000">
            <a:off x="-3182043" y="-1783535"/>
            <a:ext cx="23766232" cy="26657467"/>
          </a:xfrm>
          <a:custGeom>
            <a:avLst/>
            <a:gdLst/>
            <a:ahLst/>
            <a:cxnLst/>
            <a:rect r="r" b="b" t="t" l="l"/>
            <a:pathLst>
              <a:path h="26657467" w="23766232">
                <a:moveTo>
                  <a:pt x="0" y="0"/>
                </a:moveTo>
                <a:lnTo>
                  <a:pt x="23766231" y="0"/>
                </a:lnTo>
                <a:lnTo>
                  <a:pt x="23766231" y="26657467"/>
                </a:lnTo>
                <a:lnTo>
                  <a:pt x="0" y="26657467"/>
                </a:lnTo>
                <a:lnTo>
                  <a:pt x="0" y="0"/>
                </a:lnTo>
                <a:close/>
              </a:path>
            </a:pathLst>
          </a:custGeom>
          <a:blipFill>
            <a:blip r:embed="rId4"/>
            <a:stretch>
              <a:fillRect l="0" t="0" r="0" b="0"/>
            </a:stretch>
          </a:blipFill>
        </p:spPr>
      </p:sp>
      <p:sp>
        <p:nvSpPr>
          <p:cNvPr name="Freeform 4" id="4"/>
          <p:cNvSpPr/>
          <p:nvPr/>
        </p:nvSpPr>
        <p:spPr>
          <a:xfrm flipH="false" flipV="false" rot="715928">
            <a:off x="16589144" y="802856"/>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5"/>
            <a:stretch>
              <a:fillRect l="0" t="0" r="0" b="0"/>
            </a:stretch>
          </a:blipFill>
        </p:spPr>
      </p:sp>
      <p:sp>
        <p:nvSpPr>
          <p:cNvPr name="Freeform 5" id="5"/>
          <p:cNvSpPr/>
          <p:nvPr/>
        </p:nvSpPr>
        <p:spPr>
          <a:xfrm flipH="false" flipV="false" rot="712234">
            <a:off x="16473307" y="8698666"/>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090933" y="1051693"/>
            <a:ext cx="12490327" cy="1543050"/>
          </a:xfrm>
          <a:prstGeom prst="rect">
            <a:avLst/>
          </a:prstGeom>
        </p:spPr>
        <p:txBody>
          <a:bodyPr anchor="t" rtlCol="false" tIns="0" lIns="0" bIns="0" rIns="0">
            <a:spAutoFit/>
          </a:bodyPr>
          <a:lstStyle/>
          <a:p>
            <a:pPr algn="ctr">
              <a:lnSpc>
                <a:spcPts val="12599"/>
              </a:lnSpc>
            </a:pPr>
            <a:r>
              <a:rPr lang="en-US" sz="9000">
                <a:solidFill>
                  <a:srgbClr val="000000"/>
                </a:solidFill>
                <a:latin typeface="New Sun Playful"/>
                <a:ea typeface="New Sun Playful"/>
                <a:cs typeface="New Sun Playful"/>
                <a:sym typeface="New Sun Playful"/>
              </a:rPr>
              <a:t>Next StepS</a:t>
            </a:r>
          </a:p>
        </p:txBody>
      </p:sp>
      <p:sp>
        <p:nvSpPr>
          <p:cNvPr name="TextBox 7" id="7"/>
          <p:cNvSpPr txBox="true"/>
          <p:nvPr/>
        </p:nvSpPr>
        <p:spPr>
          <a:xfrm rot="0">
            <a:off x="3895940" y="2629097"/>
            <a:ext cx="11814429" cy="6967220"/>
          </a:xfrm>
          <a:prstGeom prst="rect">
            <a:avLst/>
          </a:prstGeom>
        </p:spPr>
        <p:txBody>
          <a:bodyPr anchor="t" rtlCol="false" tIns="0" lIns="0" bIns="0" rIns="0">
            <a:spAutoFit/>
          </a:bodyPr>
          <a:lstStyle/>
          <a:p>
            <a:pPr algn="just">
              <a:lnSpc>
                <a:spcPts val="6999"/>
              </a:lnSpc>
            </a:pPr>
            <a:r>
              <a:rPr lang="en-US" sz="2799" b="true">
                <a:solidFill>
                  <a:srgbClr val="000000"/>
                </a:solidFill>
                <a:latin typeface="Greycliff Bold"/>
                <a:ea typeface="Greycliff Bold"/>
                <a:cs typeface="Greycliff Bold"/>
                <a:sym typeface="Greycliff Bold"/>
              </a:rPr>
              <a:t>The next phase of this project involves developing an initial prototype of SpinSpotter and testing it with users to evaluate effectiveness. Feedback from peers and the professor will be essential for refining the design, improving functionality, and ensuring the tool addresses real user needs. From there, the team will iterate on the prototype, expand testing, and prepare for more advanced development phases that integrate both technical performance and user experience.</a:t>
            </a:r>
          </a:p>
        </p:txBody>
      </p:sp>
      <p:sp>
        <p:nvSpPr>
          <p:cNvPr name="Freeform 8" id="8"/>
          <p:cNvSpPr/>
          <p:nvPr/>
        </p:nvSpPr>
        <p:spPr>
          <a:xfrm flipH="false" flipV="false" rot="0">
            <a:off x="371475" y="-383014"/>
            <a:ext cx="2694963" cy="2499578"/>
          </a:xfrm>
          <a:custGeom>
            <a:avLst/>
            <a:gdLst/>
            <a:ahLst/>
            <a:cxnLst/>
            <a:rect r="r" b="b" t="t" l="l"/>
            <a:pathLst>
              <a:path h="2499578" w="2694963">
                <a:moveTo>
                  <a:pt x="0" y="0"/>
                </a:moveTo>
                <a:lnTo>
                  <a:pt x="2694963" y="0"/>
                </a:lnTo>
                <a:lnTo>
                  <a:pt x="2694963" y="2499578"/>
                </a:lnTo>
                <a:lnTo>
                  <a:pt x="0" y="2499578"/>
                </a:lnTo>
                <a:lnTo>
                  <a:pt x="0" y="0"/>
                </a:lnTo>
                <a:close/>
              </a:path>
            </a:pathLst>
          </a:custGeom>
          <a:blipFill>
            <a:blip r:embed="rId8"/>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DDB8"/>
        </a:solidFill>
      </p:bgPr>
    </p:bg>
    <p:spTree>
      <p:nvGrpSpPr>
        <p:cNvPr id="1" name=""/>
        <p:cNvGrpSpPr/>
        <p:nvPr/>
      </p:nvGrpSpPr>
      <p:grpSpPr>
        <a:xfrm>
          <a:off x="0" y="0"/>
          <a:ext cx="0" cy="0"/>
          <a:chOff x="0" y="0"/>
          <a:chExt cx="0" cy="0"/>
        </a:xfrm>
      </p:grpSpPr>
      <p:sp>
        <p:nvSpPr>
          <p:cNvPr name="Freeform 2" id="2"/>
          <p:cNvSpPr/>
          <p:nvPr/>
        </p:nvSpPr>
        <p:spPr>
          <a:xfrm flipH="false" flipV="false" rot="0">
            <a:off x="-1786999" y="-3655460"/>
            <a:ext cx="20074999" cy="29199998"/>
          </a:xfrm>
          <a:custGeom>
            <a:avLst/>
            <a:gdLst/>
            <a:ahLst/>
            <a:cxnLst/>
            <a:rect r="r" b="b" t="t" l="l"/>
            <a:pathLst>
              <a:path h="29199998" w="20074999">
                <a:moveTo>
                  <a:pt x="0" y="0"/>
                </a:moveTo>
                <a:lnTo>
                  <a:pt x="20074999" y="0"/>
                </a:lnTo>
                <a:lnTo>
                  <a:pt x="20074999" y="29199998"/>
                </a:lnTo>
                <a:lnTo>
                  <a:pt x="0" y="29199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37374">
            <a:off x="4055518" y="1441351"/>
            <a:ext cx="2570596" cy="944694"/>
          </a:xfrm>
          <a:custGeom>
            <a:avLst/>
            <a:gdLst/>
            <a:ahLst/>
            <a:cxnLst/>
            <a:rect r="r" b="b" t="t" l="l"/>
            <a:pathLst>
              <a:path h="944694" w="2570596">
                <a:moveTo>
                  <a:pt x="0" y="0"/>
                </a:moveTo>
                <a:lnTo>
                  <a:pt x="2570595" y="0"/>
                </a:lnTo>
                <a:lnTo>
                  <a:pt x="2570595" y="944694"/>
                </a:lnTo>
                <a:lnTo>
                  <a:pt x="0" y="944694"/>
                </a:lnTo>
                <a:lnTo>
                  <a:pt x="0" y="0"/>
                </a:lnTo>
                <a:close/>
              </a:path>
            </a:pathLst>
          </a:custGeom>
          <a:blipFill>
            <a:blip r:embed="rId4"/>
            <a:stretch>
              <a:fillRect l="0" t="0" r="0" b="0"/>
            </a:stretch>
          </a:blipFill>
        </p:spPr>
      </p:sp>
      <p:sp>
        <p:nvSpPr>
          <p:cNvPr name="Freeform 4" id="4"/>
          <p:cNvSpPr/>
          <p:nvPr/>
        </p:nvSpPr>
        <p:spPr>
          <a:xfrm flipH="false" flipV="false" rot="627166">
            <a:off x="-1237591" y="1686353"/>
            <a:ext cx="20461746" cy="20461746"/>
          </a:xfrm>
          <a:custGeom>
            <a:avLst/>
            <a:gdLst/>
            <a:ahLst/>
            <a:cxnLst/>
            <a:rect r="r" b="b" t="t" l="l"/>
            <a:pathLst>
              <a:path h="20461746" w="20461746">
                <a:moveTo>
                  <a:pt x="0" y="0"/>
                </a:moveTo>
                <a:lnTo>
                  <a:pt x="20461746" y="0"/>
                </a:lnTo>
                <a:lnTo>
                  <a:pt x="20461746" y="20461746"/>
                </a:lnTo>
                <a:lnTo>
                  <a:pt x="0" y="20461746"/>
                </a:lnTo>
                <a:lnTo>
                  <a:pt x="0" y="0"/>
                </a:lnTo>
                <a:close/>
              </a:path>
            </a:pathLst>
          </a:custGeom>
          <a:blipFill>
            <a:blip r:embed="rId5"/>
            <a:stretch>
              <a:fillRect l="0" t="0" r="0" b="0"/>
            </a:stretch>
          </a:blipFill>
        </p:spPr>
      </p:sp>
      <p:sp>
        <p:nvSpPr>
          <p:cNvPr name="Freeform 5" id="5"/>
          <p:cNvSpPr/>
          <p:nvPr/>
        </p:nvSpPr>
        <p:spPr>
          <a:xfrm flipH="false" flipV="false" rot="715928">
            <a:off x="14965719" y="-4074683"/>
            <a:ext cx="3397712" cy="10104721"/>
          </a:xfrm>
          <a:custGeom>
            <a:avLst/>
            <a:gdLst/>
            <a:ahLst/>
            <a:cxnLst/>
            <a:rect r="r" b="b" t="t" l="l"/>
            <a:pathLst>
              <a:path h="10104721" w="3397712">
                <a:moveTo>
                  <a:pt x="0" y="0"/>
                </a:moveTo>
                <a:lnTo>
                  <a:pt x="3397712" y="0"/>
                </a:lnTo>
                <a:lnTo>
                  <a:pt x="3397712" y="10104720"/>
                </a:lnTo>
                <a:lnTo>
                  <a:pt x="0" y="10104720"/>
                </a:lnTo>
                <a:lnTo>
                  <a:pt x="0" y="0"/>
                </a:lnTo>
                <a:close/>
              </a:path>
            </a:pathLst>
          </a:custGeom>
          <a:blipFill>
            <a:blip r:embed="rId6"/>
            <a:stretch>
              <a:fillRect l="0" t="0" r="0" b="0"/>
            </a:stretch>
          </a:blipFill>
        </p:spPr>
      </p:sp>
      <p:sp>
        <p:nvSpPr>
          <p:cNvPr name="Freeform 6" id="6"/>
          <p:cNvSpPr/>
          <p:nvPr/>
        </p:nvSpPr>
        <p:spPr>
          <a:xfrm flipH="false" flipV="false" rot="712234">
            <a:off x="14849882" y="3821127"/>
            <a:ext cx="1020214" cy="1119577"/>
          </a:xfrm>
          <a:custGeom>
            <a:avLst/>
            <a:gdLst/>
            <a:ahLst/>
            <a:cxnLst/>
            <a:rect r="r" b="b" t="t" l="l"/>
            <a:pathLst>
              <a:path h="1119577" w="1020214">
                <a:moveTo>
                  <a:pt x="0" y="0"/>
                </a:moveTo>
                <a:lnTo>
                  <a:pt x="1020214" y="0"/>
                </a:lnTo>
                <a:lnTo>
                  <a:pt x="1020214" y="1119577"/>
                </a:lnTo>
                <a:lnTo>
                  <a:pt x="0" y="11195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40385">
            <a:off x="14956528" y="5960563"/>
            <a:ext cx="1636393" cy="1343888"/>
          </a:xfrm>
          <a:custGeom>
            <a:avLst/>
            <a:gdLst/>
            <a:ahLst/>
            <a:cxnLst/>
            <a:rect r="r" b="b" t="t" l="l"/>
            <a:pathLst>
              <a:path h="1343888" w="1636393">
                <a:moveTo>
                  <a:pt x="0" y="0"/>
                </a:moveTo>
                <a:lnTo>
                  <a:pt x="1636393" y="0"/>
                </a:lnTo>
                <a:lnTo>
                  <a:pt x="1636393" y="1343888"/>
                </a:lnTo>
                <a:lnTo>
                  <a:pt x="0" y="13438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15503373" y="8143221"/>
            <a:ext cx="94599" cy="9459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1715"/>
            </a:solidFill>
          </p:spPr>
        </p:sp>
        <p:sp>
          <p:nvSpPr>
            <p:cNvPr name="TextBox 10" id="10"/>
            <p:cNvSpPr txBox="true"/>
            <p:nvPr/>
          </p:nvSpPr>
          <p:spPr>
            <a:xfrm>
              <a:off x="76200" y="85725"/>
              <a:ext cx="660400" cy="650875"/>
            </a:xfrm>
            <a:prstGeom prst="rect">
              <a:avLst/>
            </a:prstGeom>
          </p:spPr>
          <p:txBody>
            <a:bodyPr anchor="ctr" rtlCol="false" tIns="48876" lIns="48876" bIns="48876" rIns="48876"/>
            <a:lstStyle/>
            <a:p>
              <a:pPr algn="ctr">
                <a:lnSpc>
                  <a:spcPts val="1270"/>
                </a:lnSpc>
              </a:pPr>
            </a:p>
          </p:txBody>
        </p:sp>
      </p:grpSp>
      <p:grpSp>
        <p:nvGrpSpPr>
          <p:cNvPr name="Group 11" id="11"/>
          <p:cNvGrpSpPr/>
          <p:nvPr/>
        </p:nvGrpSpPr>
        <p:grpSpPr>
          <a:xfrm rot="0">
            <a:off x="16897591" y="8423458"/>
            <a:ext cx="94599" cy="945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1715"/>
            </a:solidFill>
          </p:spPr>
        </p:sp>
        <p:sp>
          <p:nvSpPr>
            <p:cNvPr name="TextBox 13" id="13"/>
            <p:cNvSpPr txBox="true"/>
            <p:nvPr/>
          </p:nvSpPr>
          <p:spPr>
            <a:xfrm>
              <a:off x="76200" y="85725"/>
              <a:ext cx="660400" cy="650875"/>
            </a:xfrm>
            <a:prstGeom prst="rect">
              <a:avLst/>
            </a:prstGeom>
          </p:spPr>
          <p:txBody>
            <a:bodyPr anchor="ctr" rtlCol="false" tIns="48876" lIns="48876" bIns="48876" rIns="48876"/>
            <a:lstStyle/>
            <a:p>
              <a:pPr algn="ctr">
                <a:lnSpc>
                  <a:spcPts val="1270"/>
                </a:lnSpc>
              </a:pPr>
            </a:p>
          </p:txBody>
        </p:sp>
      </p:grpSp>
      <p:sp>
        <p:nvSpPr>
          <p:cNvPr name="TextBox 14" id="14"/>
          <p:cNvSpPr txBox="true"/>
          <p:nvPr/>
        </p:nvSpPr>
        <p:spPr>
          <a:xfrm rot="606274">
            <a:off x="3230150" y="6106413"/>
            <a:ext cx="12490327" cy="2217954"/>
          </a:xfrm>
          <a:prstGeom prst="rect">
            <a:avLst/>
          </a:prstGeom>
        </p:spPr>
        <p:txBody>
          <a:bodyPr anchor="t" rtlCol="false" tIns="0" lIns="0" bIns="0" rIns="0">
            <a:spAutoFit/>
          </a:bodyPr>
          <a:lstStyle/>
          <a:p>
            <a:pPr algn="ctr">
              <a:lnSpc>
                <a:spcPts val="18184"/>
              </a:lnSpc>
            </a:pPr>
            <a:r>
              <a:rPr lang="en-US" sz="12988">
                <a:solidFill>
                  <a:srgbClr val="000000"/>
                </a:solidFill>
                <a:latin typeface="New Sun Playful"/>
                <a:ea typeface="New Sun Playful"/>
                <a:cs typeface="New Sun Playful"/>
                <a:sym typeface="New Sun Playful"/>
              </a:rPr>
              <a:t>thank you!</a:t>
            </a:r>
          </a:p>
        </p:txBody>
      </p:sp>
      <p:sp>
        <p:nvSpPr>
          <p:cNvPr name="Freeform 15" id="15"/>
          <p:cNvSpPr/>
          <p:nvPr/>
        </p:nvSpPr>
        <p:spPr>
          <a:xfrm flipH="true" flipV="false" rot="0">
            <a:off x="-584734" y="6632507"/>
            <a:ext cx="5925550" cy="4747847"/>
          </a:xfrm>
          <a:custGeom>
            <a:avLst/>
            <a:gdLst/>
            <a:ahLst/>
            <a:cxnLst/>
            <a:rect r="r" b="b" t="t" l="l"/>
            <a:pathLst>
              <a:path h="4747847" w="5925550">
                <a:moveTo>
                  <a:pt x="5925549" y="0"/>
                </a:moveTo>
                <a:lnTo>
                  <a:pt x="0" y="0"/>
                </a:lnTo>
                <a:lnTo>
                  <a:pt x="0" y="4747847"/>
                </a:lnTo>
                <a:lnTo>
                  <a:pt x="5925549" y="4747847"/>
                </a:lnTo>
                <a:lnTo>
                  <a:pt x="5925549" y="0"/>
                </a:lnTo>
                <a:close/>
              </a:path>
            </a:pathLst>
          </a:custGeom>
          <a:blipFill>
            <a:blip r:embed="rId11"/>
            <a:stretch>
              <a:fillRect l="0" t="0" r="0" b="0"/>
            </a:stretch>
          </a:blipFill>
        </p:spPr>
      </p:sp>
      <p:sp>
        <p:nvSpPr>
          <p:cNvPr name="Freeform 16" id="16"/>
          <p:cNvSpPr/>
          <p:nvPr/>
        </p:nvSpPr>
        <p:spPr>
          <a:xfrm flipH="false" flipV="false" rot="437374">
            <a:off x="11686811" y="2063439"/>
            <a:ext cx="2570596" cy="944694"/>
          </a:xfrm>
          <a:custGeom>
            <a:avLst/>
            <a:gdLst/>
            <a:ahLst/>
            <a:cxnLst/>
            <a:rect r="r" b="b" t="t" l="l"/>
            <a:pathLst>
              <a:path h="944694" w="2570596">
                <a:moveTo>
                  <a:pt x="0" y="0"/>
                </a:moveTo>
                <a:lnTo>
                  <a:pt x="2570595" y="0"/>
                </a:lnTo>
                <a:lnTo>
                  <a:pt x="2570595" y="944694"/>
                </a:lnTo>
                <a:lnTo>
                  <a:pt x="0" y="944694"/>
                </a:lnTo>
                <a:lnTo>
                  <a:pt x="0" y="0"/>
                </a:lnTo>
                <a:close/>
              </a:path>
            </a:pathLst>
          </a:custGeom>
          <a:blipFill>
            <a:blip r:embed="rId4"/>
            <a:stretch>
              <a:fillRect l="0" t="0" r="0" b="0"/>
            </a:stretch>
          </a:blipFill>
        </p:spPr>
      </p:sp>
      <p:sp>
        <p:nvSpPr>
          <p:cNvPr name="TextBox 17" id="17"/>
          <p:cNvSpPr txBox="true"/>
          <p:nvPr/>
        </p:nvSpPr>
        <p:spPr>
          <a:xfrm rot="630000">
            <a:off x="5663425" y="3906009"/>
            <a:ext cx="7594212"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Greycliff Bold"/>
                <a:ea typeface="Greycliff Bold"/>
                <a:cs typeface="Greycliff Bold"/>
                <a:sym typeface="Greycliff Bold"/>
              </a:rPr>
              <a:t>Presented by Powerpuff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DAGzVpMqz1w</dc:identifier>
  <dcterms:modified xsi:type="dcterms:W3CDTF">2011-08-01T06:04:30Z</dcterms:modified>
  <cp:revision>1</cp:revision>
  <dc:title>Presented by The Powerpuffs</dc:title>
</cp:coreProperties>
</file>